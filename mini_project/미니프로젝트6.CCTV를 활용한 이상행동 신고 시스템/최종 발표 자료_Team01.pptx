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290820-4AAE-4A63-9A9B-B533B3BFB310}">
  <a:tblStyle styleId="{AB290820-4AAE-4A63-9A9B-B533B3BFB31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33218E7-A592-4445-89A2-7E439728F30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0e06f950cd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10e06f950cd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0e06f950c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35" name="Google Shape;135;g10e06f950c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0e06f950cd_2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2021년 서울특별시 출처 통계를 확인해본 결과 총 범죄는 감소하는 반면 공공시설에서의 범죄는 증가하는 추세를 보였다. 사회적으로 안전망을 구축하기 위해  CCTV 관제를 증가시키는 양상을 보임. </a:t>
            </a:r>
            <a:r>
              <a:rPr lang="ko">
                <a:solidFill>
                  <a:schemeClr val="dk1"/>
                </a:solidFill>
              </a:rPr>
              <a:t>공공안전을 위해 감시요원을 배치하고 있으나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기본적으로 감시요원의 1인당 적정 모니터링 수는 50대임에 반해 271대를 모니터링하며 과잉업무를 하는 것으로 나타났다. 이 밖에 공공보안을 위협하는 요소로 경찰이 사건발행을 늦게 접수하거나 목적지를 정확하게 알지 못하고 출발하는 등 미흡한 대처로 문제를 야기하는 것도 하나의 원인으로 꼽혔다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참조자료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highlight>
                  <a:srgbClr val="FFFFFF"/>
                </a:highlight>
              </a:rPr>
              <a:t>서울특별시_서울시 5대 범죄 발생장소별 현황 통계 2021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highlight>
                  <a:srgbClr val="FFFFFF"/>
                </a:highlight>
              </a:rPr>
              <a:t>국회입법조사처_CCTV 통합관제센터 운영실태 및 개선방안 2019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</a:rPr>
              <a:t>행정안전부_공공기관 CCTV 설치 및 운영대수 2020 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47" name="Google Shape;147;g10e06f950cd_2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0e06f950cd_2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g10e06f950cd_2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0e06f950cd_2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10e06f950cd_2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0e06f950cd_2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10e06f950cd_2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0e06f950cd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10e06f950cd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e06f950cd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g10e06f950cd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0e06f950c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10e06f950c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0e06f950cd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Temporal_Anomaly_annotaion_for_Testing_Videos.txt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30fps 영상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ex) Abuse028_x264.mp4  Abuse  165  240  -1 -1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첫번째 컬럼: 영상이름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두번째 컬럼: 라벨링 된 이상행동 유형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세번째 컬럼: 이상행동이 시작하는 프레임 순서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네번째 컬럼 이상행동이 끝나는 프레임 순서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#-1은 이상행동이 없음을 의미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다섯번째 컬럼 : 다음에 발생하는 이상행동 구간이 시작되는 프레임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여섯번째 컬럼:  다음에 발생하는 이상행동 구간이 끝나는 프레임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######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The first column is the name of the video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-	The second column is the name of the anomalous event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-	The third column is the starting frame of the event (you will have to convert each video to image frames first)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-	The fourth column is the ending frame of the event.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-	For videos in which second  instance of event occurs, fifth and sixth contains starting and ending frames of second instance.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   Negative number means no anomalous event instance. In this example, abuse (instance) only occurs once.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Note: Ours videos have 30 frames per second.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10e06f950cd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0e06f950cd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10e06f950cd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0e06f950cd_14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10e06f950cd_14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0e06f950cd_14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10e06f950cd_14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0e06f950cd_14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10e06f950cd_14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0e06f950cd_14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10e06f950cd_14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0e06f950cd_14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g10e06f950cd_14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0e06f950cd_16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16191F"/>
                </a:solidFill>
                <a:highlight>
                  <a:srgbClr val="F9F9F9"/>
                </a:highlight>
              </a:rPr>
              <a:t>4개의 스택으로 producer 환경을 구축하고 gstreamer를 이용해 실시간 영상을 전송.</a:t>
            </a:r>
            <a:endParaRPr>
              <a:solidFill>
                <a:srgbClr val="16191F"/>
              </a:solidFill>
              <a:highlight>
                <a:srgbClr val="F9F9F9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16191F"/>
                </a:solidFill>
                <a:highlight>
                  <a:srgbClr val="F9F9F9"/>
                </a:highlight>
              </a:rPr>
              <a:t>이후 boto3를 통해  실시간 영상의 주소인 HLS(Http Live Streaming) URL을 통해 영상을 client에서 수신</a:t>
            </a:r>
            <a:endParaRPr>
              <a:solidFill>
                <a:srgbClr val="16191F"/>
              </a:solidFill>
              <a:highlight>
                <a:srgbClr val="F9F9F9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6191F"/>
              </a:solidFill>
              <a:highlight>
                <a:srgbClr val="F9F9F9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16191F"/>
                </a:solidFill>
                <a:highlight>
                  <a:srgbClr val="F9F9F9"/>
                </a:highlight>
              </a:rPr>
              <a:t>좌측의 producer에서 생성한 영상을 viewer로 확인할 수 있었고 ec2에서 client가 영상을 수신할 수 있음을 확인</a:t>
            </a:r>
            <a:endParaRPr>
              <a:solidFill>
                <a:srgbClr val="16191F"/>
              </a:solidFill>
              <a:highlight>
                <a:srgbClr val="F9F9F9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16191F"/>
                </a:solidFill>
                <a:highlight>
                  <a:srgbClr val="F9F9F9"/>
                </a:highlight>
              </a:rPr>
              <a:t> </a:t>
            </a:r>
            <a:endParaRPr>
              <a:solidFill>
                <a:srgbClr val="16191F"/>
              </a:solidFill>
              <a:highlight>
                <a:srgbClr val="F9F9F9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6191F"/>
              </a:solidFill>
              <a:highlight>
                <a:srgbClr val="F9F9F9"/>
              </a:highlight>
            </a:endParaRPr>
          </a:p>
        </p:txBody>
      </p:sp>
      <p:sp>
        <p:nvSpPr>
          <p:cNvPr id="388" name="Google Shape;388;g10e06f950cd_16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0e06f950cd_14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10e06f950cd_14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131a6b581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g1131a6b581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0e06f950cd_1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g10e06f950cd_1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0e06f950cd_17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g10e06f950cd_17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0e06f950cd_17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g10e06f950cd_17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e06f950cd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g10e06f950cd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0e06f950cd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g10e06f950cd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�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�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�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7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7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�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�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�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�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�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�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�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�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�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�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�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10" Type="http://schemas.openxmlformats.org/officeDocument/2006/relationships/image" Target="../media/image23.png"/><Relationship Id="rId4" Type="http://schemas.openxmlformats.org/officeDocument/2006/relationships/image" Target="../media/image1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://drive.google.com/file/d/1pBjiGduCMAsetbjxf0Ith9tb6YT2TK9E/view" TargetMode="Externa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1435152" y="3990806"/>
            <a:ext cx="627255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/>
              <a:t>SSAC 1팀  팀장: 오재동  팀원: 윤지원 신나정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831825" y="2063963"/>
            <a:ext cx="7480350" cy="538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/>
              <a:t>  CCTV를 활용한 이상행동 신고 시스템</a:t>
            </a:r>
            <a:endParaRPr sz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2" cy="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4454371"/>
            <a:ext cx="8469842" cy="57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/>
          <p:nvPr/>
        </p:nvSpPr>
        <p:spPr>
          <a:xfrm>
            <a:off x="338095" y="346026"/>
            <a:ext cx="3492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"/>
              <a:t>. 목차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2557143" y="402140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   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566695" y="1858576"/>
            <a:ext cx="3492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" sz="1400"/>
              <a:t>1</a:t>
            </a: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"/>
              <a:t>프로젝트 배경  </a:t>
            </a:r>
            <a:endParaRPr/>
          </a:p>
        </p:txBody>
      </p:sp>
      <p:sp>
        <p:nvSpPr>
          <p:cNvPr id="141" name="Google Shape;141;p26"/>
          <p:cNvSpPr txBox="1"/>
          <p:nvPr/>
        </p:nvSpPr>
        <p:spPr>
          <a:xfrm>
            <a:off x="566695" y="2287526"/>
            <a:ext cx="3492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"/>
              <a:t>2</a:t>
            </a: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"/>
              <a:t>프로젝트 팀구성 및 역할  </a:t>
            </a:r>
            <a:endParaRPr/>
          </a:p>
        </p:txBody>
      </p:sp>
      <p:sp>
        <p:nvSpPr>
          <p:cNvPr id="142" name="Google Shape;142;p26"/>
          <p:cNvSpPr txBox="1"/>
          <p:nvPr/>
        </p:nvSpPr>
        <p:spPr>
          <a:xfrm>
            <a:off x="566695" y="2698101"/>
            <a:ext cx="3492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"/>
              <a:t>3. 프로젝트 수행 절차 및 방법</a:t>
            </a:r>
            <a:endParaRPr/>
          </a:p>
        </p:txBody>
      </p:sp>
      <p:sp>
        <p:nvSpPr>
          <p:cNvPr id="143" name="Google Shape;143;p26"/>
          <p:cNvSpPr txBox="1"/>
          <p:nvPr/>
        </p:nvSpPr>
        <p:spPr>
          <a:xfrm>
            <a:off x="566695" y="3117851"/>
            <a:ext cx="3492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"/>
              <a:t>4. 프로젝트 수행 결과</a:t>
            </a: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566695" y="3537626"/>
            <a:ext cx="3492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05. 느낀점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2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7"/>
          <p:cNvSpPr txBox="1"/>
          <p:nvPr/>
        </p:nvSpPr>
        <p:spPr>
          <a:xfrm>
            <a:off x="338095" y="346026"/>
            <a:ext cx="3492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" sz="1400"/>
              <a:t>1</a:t>
            </a: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"/>
              <a:t>프로젝트 배경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230881" y="785660"/>
            <a:ext cx="2711250" cy="230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2" name="Google Shape;152;p27"/>
          <p:cNvGraphicFramePr/>
          <p:nvPr/>
        </p:nvGraphicFramePr>
        <p:xfrm>
          <a:off x="338104" y="818708"/>
          <a:ext cx="2752650" cy="213340"/>
        </p:xfrm>
        <a:graphic>
          <a:graphicData uri="http://schemas.openxmlformats.org/drawingml/2006/table">
            <a:tbl>
              <a:tblPr firstRow="1" bandRow="1">
                <a:noFill/>
                <a:tableStyleId>{AB290820-4AAE-4A63-9A9B-B533B3BFB310}</a:tableStyleId>
              </a:tblPr>
              <a:tblGrid>
                <a:gridCol w="27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공공장소에서의 범죄증가 및 CCTV 증설</a:t>
                      </a:r>
                      <a:endParaRPr sz="1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5725" marR="45725" marT="22850" marB="22850"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53" name="Google Shape;153;p27"/>
          <p:cNvPicPr preferRelativeResize="0"/>
          <p:nvPr/>
        </p:nvPicPr>
        <p:blipFill rotWithShape="1">
          <a:blip r:embed="rId4">
            <a:alphaModFix/>
          </a:blip>
          <a:srcRect l="71102"/>
          <a:stretch/>
        </p:blipFill>
        <p:spPr>
          <a:xfrm>
            <a:off x="336487" y="2270925"/>
            <a:ext cx="8469844" cy="103003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4" name="Google Shape;154;p27"/>
          <p:cNvGraphicFramePr/>
          <p:nvPr/>
        </p:nvGraphicFramePr>
        <p:xfrm>
          <a:off x="3634972" y="1019036"/>
          <a:ext cx="5172975" cy="1874650"/>
        </p:xfrm>
        <a:graphic>
          <a:graphicData uri="http://schemas.openxmlformats.org/drawingml/2006/table">
            <a:tbl>
              <a:tblPr firstRow="1" bandRow="1">
                <a:noFill/>
                <a:tableStyleId>{AB290820-4AAE-4A63-9A9B-B533B3BFB310}</a:tableStyleId>
              </a:tblPr>
              <a:tblGrid>
                <a:gridCol w="517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  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5725" marR="45725" marT="22850" marB="2285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55" name="Google Shape;155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887" y="1133494"/>
            <a:ext cx="2711249" cy="164124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6" name="Google Shape;156;p27"/>
          <p:cNvSpPr txBox="1"/>
          <p:nvPr/>
        </p:nvSpPr>
        <p:spPr>
          <a:xfrm>
            <a:off x="3797973" y="1958831"/>
            <a:ext cx="946350" cy="20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CCTV 증가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3798740" y="1077455"/>
            <a:ext cx="1209600" cy="20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CCTV 관제증가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3232977" y="1772427"/>
            <a:ext cx="203400" cy="363375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7"/>
          <p:cNvSpPr/>
          <p:nvPr/>
        </p:nvSpPr>
        <p:spPr>
          <a:xfrm rot="-5400000">
            <a:off x="8208740" y="1384852"/>
            <a:ext cx="299025" cy="3728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C78D8"/>
          </a:solidFill>
          <a:ln w="9525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7"/>
          <p:cNvSpPr/>
          <p:nvPr/>
        </p:nvSpPr>
        <p:spPr>
          <a:xfrm rot="-5400000">
            <a:off x="7179579" y="2301744"/>
            <a:ext cx="299025" cy="3728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C78D8"/>
          </a:solidFill>
          <a:ln w="9525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1" name="Google Shape;161;p27"/>
          <p:cNvGraphicFramePr/>
          <p:nvPr/>
        </p:nvGraphicFramePr>
        <p:xfrm>
          <a:off x="338104" y="2952876"/>
          <a:ext cx="2752650" cy="213340"/>
        </p:xfrm>
        <a:graphic>
          <a:graphicData uri="http://schemas.openxmlformats.org/drawingml/2006/table">
            <a:tbl>
              <a:tblPr firstRow="1" bandRow="1">
                <a:noFill/>
                <a:tableStyleId>{AB290820-4AAE-4A63-9A9B-B533B3BFB310}</a:tableStyleId>
              </a:tblPr>
              <a:tblGrid>
                <a:gridCol w="27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감시 및 대처 현황</a:t>
                      </a:r>
                      <a:endParaRPr sz="11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5" marR="45725" marT="22850" marB="22850"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2" name="Google Shape;162;p27"/>
          <p:cNvGraphicFramePr/>
          <p:nvPr/>
        </p:nvGraphicFramePr>
        <p:xfrm>
          <a:off x="338104" y="3210354"/>
          <a:ext cx="6047925" cy="1809400"/>
        </p:xfrm>
        <a:graphic>
          <a:graphicData uri="http://schemas.openxmlformats.org/drawingml/2006/table">
            <a:tbl>
              <a:tblPr firstRow="1" bandRow="1">
                <a:noFill/>
                <a:tableStyleId>{AB290820-4AAE-4A63-9A9B-B533B3BFB310}</a:tableStyleId>
              </a:tblPr>
              <a:tblGrid>
                <a:gridCol w="604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9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  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5725" marR="45725" marT="22850" marB="2285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3" name="Google Shape;163;p27"/>
          <p:cNvSpPr txBox="1"/>
          <p:nvPr/>
        </p:nvSpPr>
        <p:spPr>
          <a:xfrm>
            <a:off x="7031475" y="3460555"/>
            <a:ext cx="1746000" cy="152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사건 발생 </a:t>
            </a:r>
            <a:r>
              <a:rPr lang="ko" sz="1100">
                <a:solidFill>
                  <a:schemeClr val="dk1"/>
                </a:solidFill>
              </a:rPr>
              <a:t>후 </a:t>
            </a:r>
            <a:r>
              <a:rPr lang="ko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접수</a:t>
            </a:r>
            <a:r>
              <a:rPr lang="ko" sz="1100">
                <a:solidFill>
                  <a:schemeClr val="dk1"/>
                </a:solidFill>
              </a:rPr>
              <a:t>  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 과정에서 </a:t>
            </a:r>
            <a:r>
              <a:rPr lang="ko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시간소요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사건발생 위치</a:t>
            </a:r>
            <a:r>
              <a:rPr lang="ko" sz="1100">
                <a:solidFill>
                  <a:schemeClr val="dk1"/>
                </a:solidFill>
              </a:rPr>
              <a:t> 파악 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 어려움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3. 감시요원의 모니터링 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 업무 초과로 인한   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 사각지대 발생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6607046" y="3965998"/>
            <a:ext cx="203400" cy="363375"/>
          </a:xfrm>
          <a:prstGeom prst="chevron">
            <a:avLst>
              <a:gd name="adj" fmla="val 50000"/>
            </a:avLst>
          </a:prstGeom>
          <a:solidFill>
            <a:srgbClr val="88888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" name="Google Shape;165;p27"/>
          <p:cNvGrpSpPr/>
          <p:nvPr/>
        </p:nvGrpSpPr>
        <p:grpSpPr>
          <a:xfrm>
            <a:off x="136710" y="3331717"/>
            <a:ext cx="3343096" cy="1732565"/>
            <a:chOff x="182280" y="4442289"/>
            <a:chExt cx="4457462" cy="2310086"/>
          </a:xfrm>
        </p:grpSpPr>
        <p:pic>
          <p:nvPicPr>
            <p:cNvPr id="166" name="Google Shape;166;p2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82280" y="4448989"/>
              <a:ext cx="2235989" cy="230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2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418280" y="4442289"/>
              <a:ext cx="2221461" cy="17956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" name="Google Shape;168;p27"/>
          <p:cNvSpPr txBox="1"/>
          <p:nvPr/>
        </p:nvSpPr>
        <p:spPr>
          <a:xfrm>
            <a:off x="703274" y="4737250"/>
            <a:ext cx="2436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감시요원 담당 관리 모니터 수 초과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3536949" y="4737250"/>
            <a:ext cx="29793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늦장 출동 등으로 인한 경찰의 미흡한 대처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1162613" y="4250119"/>
            <a:ext cx="1148175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1인당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271.88대</a:t>
            </a:r>
            <a:r>
              <a:rPr lang="ko" sz="1100"/>
              <a:t> 감시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34969" y="3348413"/>
            <a:ext cx="2383875" cy="1294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/>
          <p:nvPr/>
        </p:nvSpPr>
        <p:spPr>
          <a:xfrm>
            <a:off x="7031480" y="3210354"/>
            <a:ext cx="1746000" cy="250200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늦</a:t>
            </a:r>
            <a:r>
              <a:rPr lang="ko" sz="1100">
                <a:solidFill>
                  <a:schemeClr val="dk1"/>
                </a:solidFill>
              </a:rPr>
              <a:t>은</a:t>
            </a:r>
            <a:r>
              <a:rPr lang="ko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" sz="1100">
                <a:solidFill>
                  <a:schemeClr val="dk1"/>
                </a:solidFill>
              </a:rPr>
              <a:t>대처</a:t>
            </a:r>
            <a:r>
              <a:rPr lang="ko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의 원인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27"/>
          <p:cNvCxnSpPr/>
          <p:nvPr/>
        </p:nvCxnSpPr>
        <p:spPr>
          <a:xfrm>
            <a:off x="752325" y="1481641"/>
            <a:ext cx="1980675" cy="3300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" name="Google Shape;174;p27"/>
          <p:cNvCxnSpPr/>
          <p:nvPr/>
        </p:nvCxnSpPr>
        <p:spPr>
          <a:xfrm rot="10800000" flipH="1">
            <a:off x="2610131" y="2249403"/>
            <a:ext cx="115200" cy="22950"/>
          </a:xfrm>
          <a:prstGeom prst="straightConnector1">
            <a:avLst/>
          </a:prstGeom>
          <a:noFill/>
          <a:ln w="9525" cap="flat" cmpd="sng">
            <a:solidFill>
              <a:srgbClr val="A61C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5" name="Google Shape;175;p27"/>
          <p:cNvSpPr txBox="1"/>
          <p:nvPr/>
        </p:nvSpPr>
        <p:spPr>
          <a:xfrm>
            <a:off x="1825535" y="1448185"/>
            <a:ext cx="1209600" cy="20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2"/>
                </a:solidFill>
              </a:rPr>
              <a:t>총 범죄 감소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1703623" y="2009597"/>
            <a:ext cx="1209600" cy="20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A61C00"/>
                </a:solidFill>
              </a:rPr>
              <a:t>공공시설 범죄 증가</a:t>
            </a:r>
            <a:endParaRPr sz="900" b="0" i="0" u="none" strike="noStrike" cap="none">
              <a:solidFill>
                <a:srgbClr val="A61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3865737" y="1481631"/>
            <a:ext cx="4156875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7"/>
          <p:cNvSpPr/>
          <p:nvPr/>
        </p:nvSpPr>
        <p:spPr>
          <a:xfrm>
            <a:off x="3865737" y="2284281"/>
            <a:ext cx="3118725" cy="51345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9" name="Google Shape;179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855890" y="2147361"/>
            <a:ext cx="3137084" cy="700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55123" y="1285131"/>
            <a:ext cx="4175990" cy="64313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7"/>
          <p:cNvSpPr/>
          <p:nvPr/>
        </p:nvSpPr>
        <p:spPr>
          <a:xfrm>
            <a:off x="8070263" y="5507063"/>
            <a:ext cx="736875" cy="73687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추가고민</a:t>
            </a:r>
            <a:endParaRPr sz="1100"/>
          </a:p>
        </p:txBody>
      </p:sp>
      <p:sp>
        <p:nvSpPr>
          <p:cNvPr id="182" name="Google Shape;182;p27"/>
          <p:cNvSpPr txBox="1"/>
          <p:nvPr/>
        </p:nvSpPr>
        <p:spPr>
          <a:xfrm>
            <a:off x="2721504" y="396900"/>
            <a:ext cx="372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2851375" y="384417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과제 개요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/>
        </p:nvSpPr>
        <p:spPr>
          <a:xfrm>
            <a:off x="2721504" y="396900"/>
            <a:ext cx="372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2" cy="571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" name="Google Shape;190;p28"/>
          <p:cNvGraphicFramePr/>
          <p:nvPr/>
        </p:nvGraphicFramePr>
        <p:xfrm>
          <a:off x="343429" y="2685615"/>
          <a:ext cx="8457075" cy="2055675"/>
        </p:xfrm>
        <a:graphic>
          <a:graphicData uri="http://schemas.openxmlformats.org/drawingml/2006/table">
            <a:tbl>
              <a:tblPr firstRow="1" bandRow="1">
                <a:noFill/>
                <a:tableStyleId>{AB290820-4AAE-4A63-9A9B-B533B3BFB310}</a:tableStyleId>
              </a:tblPr>
              <a:tblGrid>
                <a:gridCol w="281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  </a:t>
                      </a:r>
                      <a:r>
                        <a:rPr lang="ko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5725" marR="45725" marT="22850" marB="22850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5725" marR="45725" marT="22850" marB="22850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  </a:t>
                      </a:r>
                      <a:r>
                        <a:rPr lang="ko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SERVICE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5725" marR="45725" marT="22850" marB="22850"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825">
                <a:tc rowSpan="4">
                  <a:txBody>
                    <a:bodyPr/>
                    <a:lstStyle/>
                    <a:p>
                      <a:pPr marL="342900" lvl="0" indent="-2413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ko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공개 데이터셋을 활용하여 데이터 품질 안정화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42900" lvl="0" indent="-2413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-"/>
                      </a:pPr>
                      <a:r>
                        <a:rPr lang="ko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UCF Crime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5725" marR="45725" marT="22850" marB="22850"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342900" lvl="0" indent="-2413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ko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이상행동(폭행, 절도, 방화) 탐지를 위한 딥러닝 기법 활용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42900" lvl="0" indent="-2413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-"/>
                      </a:pPr>
                      <a:r>
                        <a:rPr lang="ko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C3D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5725" marR="45725" marT="22850" marB="22850"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342900" lvl="0" indent="-2413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ko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문자 신고 서비스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42900" lvl="0" indent="-2413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-"/>
                      </a:pPr>
                      <a:r>
                        <a:rPr lang="ko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이상행동이 탐지된 CCTV 위치 주소와 이상행동 유형 제공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685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5725" marR="45725" marT="22850" marB="22850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8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8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0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1" name="Google Shape;191;p28"/>
          <p:cNvGraphicFramePr/>
          <p:nvPr/>
        </p:nvGraphicFramePr>
        <p:xfrm>
          <a:off x="342857" y="860436"/>
          <a:ext cx="8457125" cy="548650"/>
        </p:xfrm>
        <a:graphic>
          <a:graphicData uri="http://schemas.openxmlformats.org/drawingml/2006/table">
            <a:tbl>
              <a:tblPr firstRow="1" bandRow="1">
                <a:noFill/>
                <a:tableStyleId>{AB290820-4AAE-4A63-9A9B-B533B3BFB310}</a:tableStyleId>
              </a:tblPr>
              <a:tblGrid>
                <a:gridCol w="845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48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" sz="1000" b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CCTV가 설치된 공공장소에서 특정 범죄 행위(폭행, 절도, 방화 등) 발생 시, </a:t>
                      </a:r>
                      <a:endParaRPr sz="1000" b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None/>
                      </a:pPr>
                      <a:r>
                        <a:rPr lang="ko" sz="1000" b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가까운 경찰서로 범죄 유형 및 영상을 제공함으로써 경찰의 신속한 초동대응과 범죄 피해 최소화 기대</a:t>
                      </a:r>
                      <a:endParaRPr sz="1200" b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5725" marR="45725" marT="22850" marB="22850" anchor="ctr"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92" name="Google Shape;192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0043" y="1566765"/>
            <a:ext cx="6562771" cy="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0043" y="2495490"/>
            <a:ext cx="656277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8"/>
          <p:cNvSpPr txBox="1"/>
          <p:nvPr/>
        </p:nvSpPr>
        <p:spPr>
          <a:xfrm>
            <a:off x="1370606" y="1670081"/>
            <a:ext cx="6455475" cy="80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ko" sz="1700" b="1" i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위급한 범죄상황을 탐지하여 신속한 대응을 지원하는 </a:t>
            </a:r>
            <a:endParaRPr sz="1700" b="1" i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 i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“AI 기반 범죄 행위 탐지 및 신고” 시스템 개발</a:t>
            </a:r>
            <a:endParaRPr sz="1500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338098" y="346025"/>
            <a:ext cx="2157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" sz="1400"/>
              <a:t>1</a:t>
            </a: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"/>
              <a:t>프로젝트 배경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2851375" y="384417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과제 목표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2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9"/>
          <p:cNvSpPr txBox="1"/>
          <p:nvPr/>
        </p:nvSpPr>
        <p:spPr>
          <a:xfrm>
            <a:off x="2557143" y="402140"/>
            <a:ext cx="1849950" cy="18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9"/>
          <p:cNvSpPr/>
          <p:nvPr/>
        </p:nvSpPr>
        <p:spPr>
          <a:xfrm>
            <a:off x="3792619" y="1991156"/>
            <a:ext cx="1205325" cy="42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파이프라인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키네시스 수정</a:t>
            </a:r>
            <a:endParaRPr sz="1100"/>
          </a:p>
        </p:txBody>
      </p:sp>
      <p:sp>
        <p:nvSpPr>
          <p:cNvPr id="204" name="Google Shape;204;p29"/>
          <p:cNvSpPr/>
          <p:nvPr/>
        </p:nvSpPr>
        <p:spPr>
          <a:xfrm>
            <a:off x="2417606" y="1991156"/>
            <a:ext cx="1205325" cy="42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멘토님 문의</a:t>
            </a:r>
            <a:endParaRPr sz="1100"/>
          </a:p>
        </p:txBody>
      </p:sp>
      <p:pic>
        <p:nvPicPr>
          <p:cNvPr id="205" name="Google Shape;20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506" y="861075"/>
            <a:ext cx="8469843" cy="402776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9"/>
          <p:cNvSpPr txBox="1"/>
          <p:nvPr/>
        </p:nvSpPr>
        <p:spPr>
          <a:xfrm>
            <a:off x="338098" y="346025"/>
            <a:ext cx="2157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" sz="1400"/>
              <a:t>1</a:t>
            </a: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"/>
              <a:t>프로젝트 배경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2737500" y="402105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프로젝트 개요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9"/>
          <p:cNvSpPr/>
          <p:nvPr/>
        </p:nvSpPr>
        <p:spPr>
          <a:xfrm>
            <a:off x="5361750" y="2418650"/>
            <a:ext cx="1613400" cy="22839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900" b="1">
                <a:solidFill>
                  <a:srgbClr val="FF0000"/>
                </a:solidFill>
              </a:rPr>
              <a:t>개발 예정</a:t>
            </a:r>
            <a:endParaRPr sz="39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2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 txBox="1"/>
          <p:nvPr/>
        </p:nvSpPr>
        <p:spPr>
          <a:xfrm>
            <a:off x="2557143" y="402140"/>
            <a:ext cx="1849950" cy="18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30"/>
          <p:cNvGrpSpPr/>
          <p:nvPr/>
        </p:nvGrpSpPr>
        <p:grpSpPr>
          <a:xfrm>
            <a:off x="2872813" y="1543002"/>
            <a:ext cx="1228500" cy="1048491"/>
            <a:chOff x="2260525" y="1370987"/>
            <a:chExt cx="1638000" cy="1397988"/>
          </a:xfrm>
        </p:grpSpPr>
        <p:pic>
          <p:nvPicPr>
            <p:cNvPr id="216" name="Google Shape;216;p30"/>
            <p:cNvPicPr preferRelativeResize="0"/>
            <p:nvPr/>
          </p:nvPicPr>
          <p:blipFill rotWithShape="1">
            <a:blip r:embed="rId4">
              <a:alphaModFix/>
            </a:blip>
            <a:srcRect l="23452" r="20669" b="26438"/>
            <a:stretch/>
          </p:blipFill>
          <p:spPr>
            <a:xfrm>
              <a:off x="2504725" y="1370987"/>
              <a:ext cx="1149600" cy="1104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30"/>
            <p:cNvSpPr txBox="1"/>
            <p:nvPr/>
          </p:nvSpPr>
          <p:spPr>
            <a:xfrm>
              <a:off x="2260525" y="2399675"/>
              <a:ext cx="1638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900" b="1">
                  <a:latin typeface="Calibri"/>
                  <a:ea typeface="Calibri"/>
                  <a:cs typeface="Calibri"/>
                  <a:sym typeface="Calibri"/>
                </a:rPr>
                <a:t>Kinesis Video Streams</a:t>
              </a:r>
              <a:endParaRPr sz="900" b="1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30"/>
          <p:cNvGrpSpPr/>
          <p:nvPr/>
        </p:nvGrpSpPr>
        <p:grpSpPr>
          <a:xfrm>
            <a:off x="4806422" y="3413025"/>
            <a:ext cx="925163" cy="1084032"/>
            <a:chOff x="2290975" y="3012424"/>
            <a:chExt cx="1233550" cy="1445376"/>
          </a:xfrm>
        </p:grpSpPr>
        <p:pic>
          <p:nvPicPr>
            <p:cNvPr id="219" name="Google Shape;21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290975" y="3012424"/>
              <a:ext cx="1233550" cy="121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30"/>
            <p:cNvSpPr txBox="1"/>
            <p:nvPr/>
          </p:nvSpPr>
          <p:spPr>
            <a:xfrm>
              <a:off x="2722350" y="4088500"/>
              <a:ext cx="370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900" b="1">
                  <a:latin typeface="Calibri"/>
                  <a:ea typeface="Calibri"/>
                  <a:cs typeface="Calibri"/>
                  <a:sym typeface="Calibri"/>
                </a:rPr>
                <a:t>S3</a:t>
              </a:r>
              <a:endParaRPr sz="900" b="1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30"/>
          <p:cNvGrpSpPr/>
          <p:nvPr/>
        </p:nvGrpSpPr>
        <p:grpSpPr>
          <a:xfrm>
            <a:off x="6542621" y="1243033"/>
            <a:ext cx="757276" cy="1055259"/>
            <a:chOff x="6715375" y="2167094"/>
            <a:chExt cx="1233550" cy="1622976"/>
          </a:xfrm>
        </p:grpSpPr>
        <p:pic>
          <p:nvPicPr>
            <p:cNvPr id="222" name="Google Shape;222;p3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15375" y="2167094"/>
              <a:ext cx="1233550" cy="10793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30"/>
            <p:cNvSpPr txBox="1"/>
            <p:nvPr/>
          </p:nvSpPr>
          <p:spPr>
            <a:xfrm>
              <a:off x="6827400" y="3150770"/>
              <a:ext cx="1009500" cy="6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900" b="1">
                  <a:latin typeface="Calibri"/>
                  <a:ea typeface="Calibri"/>
                  <a:cs typeface="Calibri"/>
                  <a:sym typeface="Calibri"/>
                </a:rPr>
                <a:t>DynamoDB</a:t>
              </a:r>
              <a:endParaRPr sz="900" b="1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30"/>
          <p:cNvGrpSpPr/>
          <p:nvPr/>
        </p:nvGrpSpPr>
        <p:grpSpPr>
          <a:xfrm>
            <a:off x="6541555" y="2117979"/>
            <a:ext cx="757292" cy="879687"/>
            <a:chOff x="9041375" y="3312550"/>
            <a:chExt cx="1233575" cy="1395221"/>
          </a:xfrm>
        </p:grpSpPr>
        <p:pic>
          <p:nvPicPr>
            <p:cNvPr id="225" name="Google Shape;225;p3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041375" y="3312550"/>
              <a:ext cx="1233575" cy="11278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30"/>
            <p:cNvSpPr txBox="1"/>
            <p:nvPr/>
          </p:nvSpPr>
          <p:spPr>
            <a:xfrm>
              <a:off x="9153263" y="4268271"/>
              <a:ext cx="10098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900" b="1">
                  <a:latin typeface="Calibri"/>
                  <a:ea typeface="Calibri"/>
                  <a:cs typeface="Calibri"/>
                  <a:sym typeface="Calibri"/>
                </a:rPr>
                <a:t>SNS</a:t>
              </a:r>
              <a:endParaRPr sz="900" b="1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30"/>
          <p:cNvGrpSpPr/>
          <p:nvPr/>
        </p:nvGrpSpPr>
        <p:grpSpPr>
          <a:xfrm>
            <a:off x="3190903" y="3431722"/>
            <a:ext cx="757238" cy="1131087"/>
            <a:chOff x="5911738" y="1089429"/>
            <a:chExt cx="1009650" cy="1508116"/>
          </a:xfrm>
        </p:grpSpPr>
        <p:pic>
          <p:nvPicPr>
            <p:cNvPr id="228" name="Google Shape;228;p3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911738" y="1089429"/>
              <a:ext cx="1009650" cy="1104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30"/>
            <p:cNvSpPr txBox="1"/>
            <p:nvPr/>
          </p:nvSpPr>
          <p:spPr>
            <a:xfrm>
              <a:off x="5911813" y="2043445"/>
              <a:ext cx="1009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900" b="1">
                  <a:latin typeface="Calibri"/>
                  <a:ea typeface="Calibri"/>
                  <a:cs typeface="Calibri"/>
                  <a:sym typeface="Calibri"/>
                </a:rPr>
                <a:t>UCF crime dataset</a:t>
              </a:r>
              <a:endParaRPr sz="900" b="1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30"/>
          <p:cNvGrpSpPr/>
          <p:nvPr/>
        </p:nvGrpSpPr>
        <p:grpSpPr>
          <a:xfrm>
            <a:off x="1159322" y="1555500"/>
            <a:ext cx="1007775" cy="1137563"/>
            <a:chOff x="512713" y="1249400"/>
            <a:chExt cx="1343700" cy="1516750"/>
          </a:xfrm>
        </p:grpSpPr>
        <p:sp>
          <p:nvSpPr>
            <p:cNvPr id="231" name="Google Shape;231;p30"/>
            <p:cNvSpPr txBox="1"/>
            <p:nvPr/>
          </p:nvSpPr>
          <p:spPr>
            <a:xfrm>
              <a:off x="512713" y="2212050"/>
              <a:ext cx="13437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900" b="1">
                  <a:latin typeface="Calibri"/>
                  <a:ea typeface="Calibri"/>
                  <a:cs typeface="Calibri"/>
                  <a:sym typeface="Calibri"/>
                </a:rPr>
                <a:t>CCTV 영상 송출</a:t>
              </a:r>
              <a:endParaRPr sz="900" b="1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900" b="1">
                  <a:latin typeface="Calibri"/>
                  <a:ea typeface="Calibri"/>
                  <a:cs typeface="Calibri"/>
                  <a:sym typeface="Calibri"/>
                </a:rPr>
                <a:t>(시연) Web Cam</a:t>
              </a:r>
              <a:endParaRPr sz="900" b="1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2" name="Google Shape;232;p3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79825" y="1249400"/>
              <a:ext cx="1009500" cy="1009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3" name="Google Shape;233;p30"/>
          <p:cNvSpPr txBox="1"/>
          <p:nvPr/>
        </p:nvSpPr>
        <p:spPr>
          <a:xfrm>
            <a:off x="5455659" y="3130875"/>
            <a:ext cx="1061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Calibri"/>
                <a:ea typeface="Calibri"/>
                <a:cs typeface="Calibri"/>
                <a:sym typeface="Calibri"/>
              </a:rPr>
              <a:t>학습 모델 저장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4" name="Google Shape;234;p30"/>
          <p:cNvGrpSpPr/>
          <p:nvPr/>
        </p:nvGrpSpPr>
        <p:grpSpPr>
          <a:xfrm>
            <a:off x="4815194" y="1657059"/>
            <a:ext cx="925162" cy="940741"/>
            <a:chOff x="4979500" y="2979700"/>
            <a:chExt cx="1233550" cy="1254321"/>
          </a:xfrm>
        </p:grpSpPr>
        <p:pic>
          <p:nvPicPr>
            <p:cNvPr id="235" name="Google Shape;235;p30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4979500" y="2979700"/>
              <a:ext cx="1233550" cy="1009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30"/>
            <p:cNvSpPr txBox="1"/>
            <p:nvPr/>
          </p:nvSpPr>
          <p:spPr>
            <a:xfrm>
              <a:off x="5359108" y="3864721"/>
              <a:ext cx="450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900" b="1">
                  <a:latin typeface="Calibri"/>
                  <a:ea typeface="Calibri"/>
                  <a:cs typeface="Calibri"/>
                  <a:sym typeface="Calibri"/>
                </a:rPr>
                <a:t>EC2</a:t>
              </a:r>
              <a:endParaRPr sz="900" b="1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30"/>
          <p:cNvSpPr txBox="1"/>
          <p:nvPr/>
        </p:nvSpPr>
        <p:spPr>
          <a:xfrm>
            <a:off x="3978994" y="2673675"/>
            <a:ext cx="1061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Calibri"/>
                <a:ea typeface="Calibri"/>
                <a:cs typeface="Calibri"/>
                <a:sym typeface="Calibri"/>
              </a:rPr>
              <a:t>학습 데이터 전송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0"/>
          <p:cNvSpPr txBox="1"/>
          <p:nvPr/>
        </p:nvSpPr>
        <p:spPr>
          <a:xfrm>
            <a:off x="338098" y="346025"/>
            <a:ext cx="2157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" sz="1400"/>
              <a:t>1</a:t>
            </a: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"/>
              <a:t>프로젝트 배경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0"/>
          <p:cNvSpPr txBox="1"/>
          <p:nvPr/>
        </p:nvSpPr>
        <p:spPr>
          <a:xfrm>
            <a:off x="2737500" y="402105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프로젝트 구조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0"/>
          <p:cNvSpPr/>
          <p:nvPr/>
        </p:nvSpPr>
        <p:spPr>
          <a:xfrm>
            <a:off x="2470977" y="1848627"/>
            <a:ext cx="203400" cy="3633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4299777" y="1848627"/>
            <a:ext cx="203400" cy="3633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0"/>
          <p:cNvSpPr/>
          <p:nvPr/>
        </p:nvSpPr>
        <p:spPr>
          <a:xfrm>
            <a:off x="6052377" y="1848627"/>
            <a:ext cx="203400" cy="3633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0"/>
          <p:cNvSpPr/>
          <p:nvPr/>
        </p:nvSpPr>
        <p:spPr>
          <a:xfrm rot="5400000">
            <a:off x="5137977" y="2991627"/>
            <a:ext cx="203400" cy="3633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0"/>
          <p:cNvSpPr/>
          <p:nvPr/>
        </p:nvSpPr>
        <p:spPr>
          <a:xfrm rot="-5400000">
            <a:off x="5137977" y="2686827"/>
            <a:ext cx="203400" cy="3633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0"/>
          <p:cNvSpPr/>
          <p:nvPr/>
        </p:nvSpPr>
        <p:spPr>
          <a:xfrm flipH="1">
            <a:off x="4299777" y="3677427"/>
            <a:ext cx="203400" cy="3633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5734" y="2536656"/>
            <a:ext cx="1142299" cy="114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508" y="645629"/>
            <a:ext cx="8469842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1"/>
          <p:cNvSpPr txBox="1"/>
          <p:nvPr/>
        </p:nvSpPr>
        <p:spPr>
          <a:xfrm>
            <a:off x="181685" y="4160711"/>
            <a:ext cx="2228625" cy="32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딥러닝 모델을 통한</a:t>
            </a:r>
            <a:endParaRPr sz="9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범죄 상황 탐지</a:t>
            </a:r>
            <a:endParaRPr sz="900"/>
          </a:p>
        </p:txBody>
      </p:sp>
      <p:pic>
        <p:nvPicPr>
          <p:cNvPr id="253" name="Google Shape;25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825" y="2536656"/>
            <a:ext cx="1142299" cy="114229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1"/>
          <p:cNvSpPr txBox="1"/>
          <p:nvPr/>
        </p:nvSpPr>
        <p:spPr>
          <a:xfrm>
            <a:off x="608533" y="3901496"/>
            <a:ext cx="1374975" cy="21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/>
              <a:t>SMART CCTV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8461" y="2536656"/>
            <a:ext cx="1142299" cy="114229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1"/>
          <p:cNvSpPr txBox="1"/>
          <p:nvPr/>
        </p:nvSpPr>
        <p:spPr>
          <a:xfrm>
            <a:off x="2880295" y="3901496"/>
            <a:ext cx="1198575" cy="21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/>
              <a:t>AUTO-REPORT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92098" y="2536656"/>
            <a:ext cx="1142299" cy="114229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1"/>
          <p:cNvSpPr txBox="1"/>
          <p:nvPr/>
        </p:nvSpPr>
        <p:spPr>
          <a:xfrm>
            <a:off x="5011923" y="3901496"/>
            <a:ext cx="1302750" cy="21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/>
              <a:t>POLICE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1"/>
          <p:cNvSpPr txBox="1"/>
          <p:nvPr/>
        </p:nvSpPr>
        <p:spPr>
          <a:xfrm>
            <a:off x="7167208" y="3901496"/>
            <a:ext cx="1359450" cy="21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/>
              <a:t>SAFE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1"/>
          <p:cNvSpPr txBox="1"/>
          <p:nvPr/>
        </p:nvSpPr>
        <p:spPr>
          <a:xfrm>
            <a:off x="2500397" y="4160711"/>
            <a:ext cx="1950075" cy="32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이상행동 확인 시</a:t>
            </a:r>
            <a:endParaRPr sz="9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112 자동 신고</a:t>
            </a:r>
            <a:endParaRPr sz="900"/>
          </a:p>
        </p:txBody>
      </p:sp>
      <p:sp>
        <p:nvSpPr>
          <p:cNvPr id="261" name="Google Shape;261;p31"/>
          <p:cNvSpPr txBox="1"/>
          <p:nvPr/>
        </p:nvSpPr>
        <p:spPr>
          <a:xfrm>
            <a:off x="4643238" y="4160974"/>
            <a:ext cx="2035800" cy="32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CCTV로부터 전달 받은 </a:t>
            </a:r>
            <a:endParaRPr sz="9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정보를 토대로 신속한 출동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1"/>
          <p:cNvSpPr txBox="1"/>
          <p:nvPr/>
        </p:nvSpPr>
        <p:spPr>
          <a:xfrm>
            <a:off x="6753952" y="4160711"/>
            <a:ext cx="2142900" cy="32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범죄 피해자의 피해 최소화 </a:t>
            </a:r>
            <a:endParaRPr sz="9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및 공공의 안전 증대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1448100" y="1092975"/>
            <a:ext cx="6247800" cy="38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ko" sz="2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“AI 기반 범죄 행위 탐지 및 신고” 시스템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0043" y="1976190"/>
            <a:ext cx="6562771" cy="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>
            <a:off x="1173605" y="2096969"/>
            <a:ext cx="251082" cy="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>
            <a:off x="7717749" y="2096969"/>
            <a:ext cx="251082" cy="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>
            <a:off x="5536367" y="2096969"/>
            <a:ext cx="251082" cy="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>
            <a:off x="3354986" y="2096969"/>
            <a:ext cx="251082" cy="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>
            <a:off x="4445888" y="1857792"/>
            <a:ext cx="251082" cy="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5459" y="2817561"/>
            <a:ext cx="558938" cy="558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41538" y="2817572"/>
            <a:ext cx="558900" cy="5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84477" y="2778259"/>
            <a:ext cx="558900" cy="5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76720" y="2818922"/>
            <a:ext cx="556200" cy="55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1"/>
          <p:cNvSpPr txBox="1"/>
          <p:nvPr/>
        </p:nvSpPr>
        <p:spPr>
          <a:xfrm>
            <a:off x="338100" y="346025"/>
            <a:ext cx="1863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" sz="1400"/>
              <a:t>1</a:t>
            </a: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"/>
              <a:t>프로젝트 배경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2557143" y="40214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1"/>
          <p:cNvSpPr txBox="1"/>
          <p:nvPr/>
        </p:nvSpPr>
        <p:spPr>
          <a:xfrm>
            <a:off x="2737500" y="402105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기대 효과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2"/>
          <p:cNvSpPr txBox="1"/>
          <p:nvPr/>
        </p:nvSpPr>
        <p:spPr>
          <a:xfrm>
            <a:off x="338100" y="346025"/>
            <a:ext cx="2319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"/>
              <a:t>2</a:t>
            </a: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"/>
              <a:t>프로젝트 팀구성 및 역할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2"/>
          <p:cNvSpPr txBox="1"/>
          <p:nvPr/>
        </p:nvSpPr>
        <p:spPr>
          <a:xfrm>
            <a:off x="2557143" y="40214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2"/>
          <p:cNvSpPr txBox="1"/>
          <p:nvPr/>
        </p:nvSpPr>
        <p:spPr>
          <a:xfrm>
            <a:off x="2737500" y="402105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프로젝트 팀 구성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5" name="Google Shape;285;p32"/>
          <p:cNvGraphicFramePr/>
          <p:nvPr/>
        </p:nvGraphicFramePr>
        <p:xfrm>
          <a:off x="364350" y="908225"/>
          <a:ext cx="8469850" cy="2865000"/>
        </p:xfrm>
        <a:graphic>
          <a:graphicData uri="http://schemas.openxmlformats.org/drawingml/2006/table">
            <a:tbl>
              <a:tblPr>
                <a:noFill/>
                <a:tableStyleId>{E33218E7-A592-4445-89A2-7E439728F304}</a:tableStyleId>
              </a:tblPr>
              <a:tblGrid>
                <a:gridCol w="269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lt1"/>
                          </a:solidFill>
                        </a:rPr>
                        <a:t>이름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8787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lt1"/>
                          </a:solidFill>
                        </a:rPr>
                        <a:t>역할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87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오재동 (팀장)</a:t>
                      </a:r>
                      <a:endParaRPr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ko"/>
                        <a:t>데이터 전처리 및 정규화</a:t>
                      </a:r>
                      <a:endParaRPr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ko"/>
                        <a:t>데이터 모델링  </a:t>
                      </a:r>
                      <a:endParaRPr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ko"/>
                        <a:t>AWS Service 관리 및 구축</a:t>
                      </a:r>
                      <a:endParaRPr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신나정 (팀원)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데이터 수집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데이터 전처리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데이터 전송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AWS 구축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윤지원 (팀원)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ko"/>
                        <a:t>WBS 관리</a:t>
                      </a:r>
                      <a:endParaRPr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ko"/>
                        <a:t>AWS 구축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3"/>
          <p:cNvSpPr txBox="1"/>
          <p:nvPr/>
        </p:nvSpPr>
        <p:spPr>
          <a:xfrm>
            <a:off x="338100" y="346025"/>
            <a:ext cx="2651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"/>
              <a:t>3. 프로젝트 수행 절차 및 방법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3"/>
          <p:cNvSpPr txBox="1"/>
          <p:nvPr/>
        </p:nvSpPr>
        <p:spPr>
          <a:xfrm>
            <a:off x="3055918" y="40209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3" name="Google Shape;293;p33"/>
          <p:cNvGraphicFramePr/>
          <p:nvPr/>
        </p:nvGraphicFramePr>
        <p:xfrm>
          <a:off x="440550" y="908225"/>
          <a:ext cx="8236525" cy="3888280"/>
        </p:xfrm>
        <a:graphic>
          <a:graphicData uri="http://schemas.openxmlformats.org/drawingml/2006/table">
            <a:tbl>
              <a:tblPr>
                <a:noFill/>
                <a:tableStyleId>{E33218E7-A592-4445-89A2-7E439728F304}</a:tableStyleId>
              </a:tblPr>
              <a:tblGrid>
                <a:gridCol w="179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lt1"/>
                          </a:solidFill>
                        </a:rPr>
                        <a:t>구분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8787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lt1"/>
                          </a:solidFill>
                        </a:rPr>
                        <a:t>기간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8787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lt1"/>
                          </a:solidFill>
                        </a:rPr>
                        <a:t>활동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8787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lt1"/>
                          </a:solidFill>
                        </a:rPr>
                        <a:t>비고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87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사전 기획</a:t>
                      </a:r>
                      <a:endParaRPr sz="130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21.12.16 ~ 22.01.16</a:t>
                      </a:r>
                      <a:endParaRPr sz="130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-"/>
                      </a:pPr>
                      <a:r>
                        <a:rPr lang="ko" sz="1300"/>
                        <a:t>서비스 선정</a:t>
                      </a:r>
                      <a:endParaRPr sz="1300"/>
                    </a:p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-"/>
                      </a:pPr>
                      <a:r>
                        <a:rPr lang="ko" sz="1300"/>
                        <a:t>서비스 아키텍처 설계</a:t>
                      </a:r>
                      <a:endParaRPr sz="130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데이터 수집</a:t>
                      </a:r>
                      <a:endParaRPr sz="13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22.01.03 ~ 22.01.30</a:t>
                      </a:r>
                      <a:endParaRPr sz="13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-"/>
                      </a:pPr>
                      <a:r>
                        <a:rPr lang="ko" sz="1300"/>
                        <a:t>알고리즘 조사</a:t>
                      </a:r>
                      <a:endParaRPr sz="1300"/>
                    </a:p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-"/>
                      </a:pPr>
                      <a:r>
                        <a:rPr lang="ko" sz="1300"/>
                        <a:t>데이터 선정 및 수집</a:t>
                      </a:r>
                      <a:endParaRPr sz="13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데이터 전처리</a:t>
                      </a:r>
                      <a:endParaRPr sz="13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22.01.03 ~ 22.01.30</a:t>
                      </a:r>
                      <a:endParaRPr sz="13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-"/>
                      </a:pPr>
                      <a:r>
                        <a:rPr lang="ko" sz="1300"/>
                        <a:t>데이터 정의서 작성</a:t>
                      </a:r>
                      <a:endParaRPr sz="1300"/>
                    </a:p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-"/>
                      </a:pPr>
                      <a:r>
                        <a:rPr lang="ko" sz="1300"/>
                        <a:t>데이터 정제</a:t>
                      </a:r>
                      <a:endParaRPr sz="13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모델링</a:t>
                      </a:r>
                      <a:endParaRPr sz="13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22.01.24 ~ 22.02.08</a:t>
                      </a:r>
                      <a:endParaRPr sz="13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-"/>
                      </a:pPr>
                      <a:r>
                        <a:rPr lang="ko" sz="1300"/>
                        <a:t>모델 선정</a:t>
                      </a:r>
                      <a:endParaRPr sz="1300"/>
                    </a:p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-"/>
                      </a:pPr>
                      <a:r>
                        <a:rPr lang="ko" sz="1300"/>
                        <a:t>모델 개발환경 구축</a:t>
                      </a:r>
                      <a:endParaRPr sz="1300"/>
                    </a:p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-"/>
                      </a:pPr>
                      <a:r>
                        <a:rPr lang="ko" sz="1300"/>
                        <a:t>모델 구축</a:t>
                      </a:r>
                      <a:endParaRPr sz="1300"/>
                    </a:p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-"/>
                      </a:pPr>
                      <a:r>
                        <a:rPr lang="ko" sz="1300"/>
                        <a:t>모델 성능 평가</a:t>
                      </a:r>
                      <a:endParaRPr sz="13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서비스 구축</a:t>
                      </a:r>
                      <a:endParaRPr sz="13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22.01.17 ~ 22.02.07</a:t>
                      </a:r>
                      <a:endParaRPr sz="13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-"/>
                      </a:pPr>
                      <a:r>
                        <a:rPr lang="ko" sz="1300"/>
                        <a:t>AWS 시스템 구축</a:t>
                      </a:r>
                      <a:endParaRPr sz="13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총 개발 기간</a:t>
                      </a:r>
                      <a:endParaRPr sz="1300"/>
                    </a:p>
                  </a:txBody>
                  <a:tcPr marL="91425" marR="91425" marT="91425" marB="91425" anchor="ctr"/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21.12.16 ~ 22.02.08 (총 55일)</a:t>
                      </a:r>
                      <a:endParaRPr sz="1300"/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4" name="Google Shape;294;p33"/>
          <p:cNvSpPr txBox="1"/>
          <p:nvPr/>
        </p:nvSpPr>
        <p:spPr>
          <a:xfrm>
            <a:off x="3211975" y="384430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전체 개발 일정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4"/>
          <p:cNvSpPr txBox="1"/>
          <p:nvPr/>
        </p:nvSpPr>
        <p:spPr>
          <a:xfrm>
            <a:off x="338100" y="346025"/>
            <a:ext cx="2651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04. 데이터 소개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4"/>
          <p:cNvSpPr txBox="1"/>
          <p:nvPr/>
        </p:nvSpPr>
        <p:spPr>
          <a:xfrm>
            <a:off x="3055918" y="40209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4"/>
          <p:cNvSpPr txBox="1"/>
          <p:nvPr/>
        </p:nvSpPr>
        <p:spPr>
          <a:xfrm>
            <a:off x="3211975" y="384430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데이터 소개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1159825"/>
            <a:ext cx="3754950" cy="382912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4"/>
          <p:cNvSpPr txBox="1"/>
          <p:nvPr/>
        </p:nvSpPr>
        <p:spPr>
          <a:xfrm>
            <a:off x="4122250" y="1418850"/>
            <a:ext cx="48735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9999" lvl="0" indent="-17254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ko" sz="1300">
                <a:solidFill>
                  <a:schemeClr val="dk1"/>
                </a:solidFill>
              </a:rPr>
              <a:t>데이터 명: </a:t>
            </a:r>
            <a:r>
              <a:rPr lang="ko" sz="1300" b="1">
                <a:solidFill>
                  <a:schemeClr val="dk1"/>
                </a:solidFill>
              </a:rPr>
              <a:t>UCF-Crime Dataset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179999" lvl="0" indent="-17254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ko" sz="1300">
                <a:solidFill>
                  <a:schemeClr val="dk1"/>
                </a:solidFill>
              </a:rPr>
              <a:t>데이터 구성 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ko" sz="1300" b="1">
                <a:solidFill>
                  <a:schemeClr val="dk1"/>
                </a:solidFill>
              </a:rPr>
              <a:t>13가지 이상행동 유형별 영상 폴더</a:t>
            </a:r>
            <a:endParaRPr sz="1300" b="1">
              <a:solidFill>
                <a:schemeClr val="dk1"/>
              </a:solidFill>
            </a:endParaRPr>
          </a:p>
          <a:p>
            <a:pPr marL="809999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ko" sz="1300">
                <a:solidFill>
                  <a:schemeClr val="dk1"/>
                </a:solidFill>
              </a:rPr>
              <a:t>Abue, Arrest, Arson, Assault, Burgalry, Explosion, Fighting, RoadAccidents, Robbery, Shooting, Shoplifting, Stealing, Vandalism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ko" sz="1300" b="1">
                <a:solidFill>
                  <a:schemeClr val="dk1"/>
                </a:solidFill>
              </a:rPr>
              <a:t>정상행동 영상 폴더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ko" sz="1300" b="1">
                <a:solidFill>
                  <a:schemeClr val="dk1"/>
                </a:solidFill>
              </a:rPr>
              <a:t>Annotation txt 파일</a:t>
            </a:r>
            <a:endParaRPr sz="1300" b="1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학습에 사용할 train 영상 txt 파일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179999" lvl="0" indent="-17254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ko" sz="1300">
                <a:solidFill>
                  <a:schemeClr val="dk1"/>
                </a:solidFill>
              </a:rPr>
              <a:t>영상 정보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ko" sz="1300">
                <a:solidFill>
                  <a:schemeClr val="dk1"/>
                </a:solidFill>
              </a:rPr>
              <a:t>영상크기 : 너비 320, 높이 240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ko" sz="1300">
                <a:solidFill>
                  <a:schemeClr val="dk1"/>
                </a:solidFill>
              </a:rPr>
              <a:t>FPS : 30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305" name="Google Shape;30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1159825"/>
            <a:ext cx="2114750" cy="382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4"/>
          <p:cNvSpPr txBox="1"/>
          <p:nvPr/>
        </p:nvSpPr>
        <p:spPr>
          <a:xfrm>
            <a:off x="316050" y="80582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chemeClr val="dk1"/>
                </a:solidFill>
              </a:rPr>
              <a:t>UCF 데이터셋 구성</a:t>
            </a:r>
            <a:endParaRPr sz="18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5"/>
          <p:cNvSpPr txBox="1"/>
          <p:nvPr/>
        </p:nvSpPr>
        <p:spPr>
          <a:xfrm>
            <a:off x="338100" y="346025"/>
            <a:ext cx="2651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04. 프로젝트 수행 결과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5"/>
          <p:cNvSpPr txBox="1"/>
          <p:nvPr/>
        </p:nvSpPr>
        <p:spPr>
          <a:xfrm>
            <a:off x="3055918" y="40209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5"/>
          <p:cNvSpPr txBox="1"/>
          <p:nvPr/>
        </p:nvSpPr>
        <p:spPr>
          <a:xfrm>
            <a:off x="3211975" y="384430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모델 개요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5"/>
          <p:cNvSpPr txBox="1"/>
          <p:nvPr/>
        </p:nvSpPr>
        <p:spPr>
          <a:xfrm>
            <a:off x="490507" y="1203150"/>
            <a:ext cx="8136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/>
              <a:t> C3D (Convolutional 3D)</a:t>
            </a:r>
            <a:endParaRPr sz="1800"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기존 2차원 커널을 3차원으로 확장하여 사용하는 네트워크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Input Data의 시·공간적 특징을 추출하는데 주로 사용한다.</a:t>
            </a:r>
            <a:endParaRPr/>
          </a:p>
        </p:txBody>
      </p:sp>
      <p:pic>
        <p:nvPicPr>
          <p:cNvPr id="316" name="Google Shape;31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175" y="2535425"/>
            <a:ext cx="4539976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5825" y="2535425"/>
            <a:ext cx="337432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5"/>
          <p:cNvSpPr/>
          <p:nvPr/>
        </p:nvSpPr>
        <p:spPr>
          <a:xfrm>
            <a:off x="5370975" y="2535750"/>
            <a:ext cx="3374400" cy="1543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5"/>
          <p:cNvSpPr txBox="1"/>
          <p:nvPr/>
        </p:nvSpPr>
        <p:spPr>
          <a:xfrm>
            <a:off x="1789155" y="4146375"/>
            <a:ext cx="2025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 기존의 2D Convolution</a:t>
            </a:r>
            <a:endParaRPr sz="1100"/>
          </a:p>
        </p:txBody>
      </p:sp>
      <p:sp>
        <p:nvSpPr>
          <p:cNvPr id="320" name="Google Shape;320;p35"/>
          <p:cNvSpPr txBox="1"/>
          <p:nvPr/>
        </p:nvSpPr>
        <p:spPr>
          <a:xfrm>
            <a:off x="6427427" y="4146375"/>
            <a:ext cx="126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 3D Convolution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6"/>
          <p:cNvSpPr txBox="1"/>
          <p:nvPr/>
        </p:nvSpPr>
        <p:spPr>
          <a:xfrm>
            <a:off x="338100" y="346025"/>
            <a:ext cx="2651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04. 프로젝트 수행 결과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6"/>
          <p:cNvSpPr txBox="1"/>
          <p:nvPr/>
        </p:nvSpPr>
        <p:spPr>
          <a:xfrm>
            <a:off x="3055918" y="40209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6"/>
          <p:cNvSpPr txBox="1"/>
          <p:nvPr/>
        </p:nvSpPr>
        <p:spPr>
          <a:xfrm>
            <a:off x="3193000" y="402105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모델 개발 환경  - ec2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075" y="1009775"/>
            <a:ext cx="8469850" cy="1849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6"/>
          <p:cNvSpPr txBox="1"/>
          <p:nvPr/>
        </p:nvSpPr>
        <p:spPr>
          <a:xfrm>
            <a:off x="394007" y="748575"/>
            <a:ext cx="8136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/>
              <a:t> 통합 구현 환경  - p2.xlarge, ubuntu 18.04 </a:t>
            </a:r>
            <a:endParaRPr sz="1300" b="1"/>
          </a:p>
        </p:txBody>
      </p:sp>
      <p:sp>
        <p:nvSpPr>
          <p:cNvPr id="331" name="Google Shape;331;p36"/>
          <p:cNvSpPr txBox="1"/>
          <p:nvPr/>
        </p:nvSpPr>
        <p:spPr>
          <a:xfrm>
            <a:off x="394007" y="2987813"/>
            <a:ext cx="8136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/>
              <a:t> 모델 학습 환경  - p2.8xlarge, ubuntu 18.04</a:t>
            </a:r>
            <a:endParaRPr sz="1300" b="1"/>
          </a:p>
        </p:txBody>
      </p:sp>
      <p:pic>
        <p:nvPicPr>
          <p:cNvPr id="332" name="Google Shape;332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000" y="3255300"/>
            <a:ext cx="8412349" cy="17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7"/>
          <p:cNvSpPr txBox="1"/>
          <p:nvPr/>
        </p:nvSpPr>
        <p:spPr>
          <a:xfrm>
            <a:off x="338100" y="346025"/>
            <a:ext cx="2651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04. 프로젝트 수행 결과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7"/>
          <p:cNvSpPr txBox="1"/>
          <p:nvPr/>
        </p:nvSpPr>
        <p:spPr>
          <a:xfrm>
            <a:off x="3055918" y="40209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7"/>
          <p:cNvSpPr txBox="1"/>
          <p:nvPr/>
        </p:nvSpPr>
        <p:spPr>
          <a:xfrm>
            <a:off x="3193000" y="402105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모델 개발 환경  - docker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7"/>
          <p:cNvSpPr txBox="1"/>
          <p:nvPr/>
        </p:nvSpPr>
        <p:spPr>
          <a:xfrm>
            <a:off x="5086650" y="1720475"/>
            <a:ext cx="39672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CUDA 8.0, CUDNN 5.0, Ubuntu 16.04 환경의 bvlc/caffe: GPU docker image를 이용한 개발 환경 구축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Python: 2.7.12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Caffe: 1.0.0 version 사용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342" name="Google Shape;34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500" y="864650"/>
            <a:ext cx="4569526" cy="413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2200" y="864650"/>
            <a:ext cx="3208124" cy="286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8"/>
          <p:cNvSpPr txBox="1"/>
          <p:nvPr/>
        </p:nvSpPr>
        <p:spPr>
          <a:xfrm>
            <a:off x="338100" y="346025"/>
            <a:ext cx="2651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04. 프로젝트 수행 결과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8"/>
          <p:cNvSpPr txBox="1"/>
          <p:nvPr/>
        </p:nvSpPr>
        <p:spPr>
          <a:xfrm>
            <a:off x="3055918" y="40209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8"/>
          <p:cNvSpPr txBox="1"/>
          <p:nvPr/>
        </p:nvSpPr>
        <p:spPr>
          <a:xfrm>
            <a:off x="3211975" y="384430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데이터 전처리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625" y="926375"/>
            <a:ext cx="2304925" cy="35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8"/>
          <p:cNvSpPr txBox="1"/>
          <p:nvPr/>
        </p:nvSpPr>
        <p:spPr>
          <a:xfrm>
            <a:off x="1224513" y="4507325"/>
            <a:ext cx="99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 원본 데이터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354" name="Google Shape;354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4550" y="884538"/>
            <a:ext cx="3454049" cy="36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8"/>
          <p:cNvSpPr txBox="1"/>
          <p:nvPr/>
        </p:nvSpPr>
        <p:spPr>
          <a:xfrm>
            <a:off x="6030574" y="4536700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C3D Network Input Data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56" name="Google Shape;356;p38"/>
          <p:cNvSpPr txBox="1"/>
          <p:nvPr/>
        </p:nvSpPr>
        <p:spPr>
          <a:xfrm>
            <a:off x="2984750" y="2664725"/>
            <a:ext cx="21498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[폭행, 방화, 절도, 정상] 범주의 비디오 추출</a:t>
            </a:r>
            <a:endParaRPr sz="13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각 비디오에 </a:t>
            </a:r>
            <a:endParaRPr sz="13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16 프레임마다 </a:t>
            </a:r>
            <a:endParaRPr sz="13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레이블 표시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7" name="Google Shape;357;p38"/>
          <p:cNvSpPr/>
          <p:nvPr/>
        </p:nvSpPr>
        <p:spPr>
          <a:xfrm>
            <a:off x="3842910" y="2064849"/>
            <a:ext cx="433500" cy="5505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9"/>
          <p:cNvSpPr txBox="1"/>
          <p:nvPr/>
        </p:nvSpPr>
        <p:spPr>
          <a:xfrm>
            <a:off x="338100" y="346025"/>
            <a:ext cx="2651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04. 프로젝트 수행 결과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9"/>
          <p:cNvSpPr txBox="1"/>
          <p:nvPr/>
        </p:nvSpPr>
        <p:spPr>
          <a:xfrm>
            <a:off x="3055918" y="40209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9"/>
          <p:cNvSpPr txBox="1"/>
          <p:nvPr/>
        </p:nvSpPr>
        <p:spPr>
          <a:xfrm>
            <a:off x="3193000" y="402105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Model Input Data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9"/>
          <p:cNvSpPr txBox="1"/>
          <p:nvPr/>
        </p:nvSpPr>
        <p:spPr>
          <a:xfrm>
            <a:off x="336500" y="3804920"/>
            <a:ext cx="50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chemeClr val="dk1"/>
                </a:solidFill>
              </a:rPr>
              <a:t> 모델 학습에 사용할 데이터들의 위치, 모델 구조 등을 정의한 prototxt 파일</a:t>
            </a:r>
            <a:endParaRPr sz="1000" b="1">
              <a:solidFill>
                <a:schemeClr val="dk1"/>
              </a:solidFill>
            </a:endParaRPr>
          </a:p>
        </p:txBody>
      </p:sp>
      <p:pic>
        <p:nvPicPr>
          <p:cNvPr id="367" name="Google Shape;36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500" y="807725"/>
            <a:ext cx="2856500" cy="2971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3000" y="807725"/>
            <a:ext cx="2194200" cy="297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50850" y="807725"/>
            <a:ext cx="3055500" cy="29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9"/>
          <p:cNvSpPr txBox="1"/>
          <p:nvPr/>
        </p:nvSpPr>
        <p:spPr>
          <a:xfrm>
            <a:off x="5750850" y="3779475"/>
            <a:ext cx="3055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chemeClr val="dk1"/>
                </a:solidFill>
              </a:rPr>
              <a:t>학습 관련 파라미터를 정의한 prototxt 파일</a:t>
            </a:r>
            <a:endParaRPr sz="1000" b="1">
              <a:solidFill>
                <a:schemeClr val="dk1"/>
              </a:solidFill>
            </a:endParaRPr>
          </a:p>
        </p:txBody>
      </p:sp>
      <p:sp>
        <p:nvSpPr>
          <p:cNvPr id="371" name="Google Shape;371;p39"/>
          <p:cNvSpPr txBox="1"/>
          <p:nvPr/>
        </p:nvSpPr>
        <p:spPr>
          <a:xfrm>
            <a:off x="338100" y="4235550"/>
            <a:ext cx="8468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chemeClr val="dk1"/>
                </a:solidFill>
              </a:rPr>
              <a:t> 위 파일들을 이용하여 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chemeClr val="dk1"/>
                </a:solidFill>
              </a:rPr>
              <a:t>GLOG_log_dir = "./LOG_TRAIN/" ../../build/tools/caffe.bin train --solver=solver.prototxt --gpu=0 학습 수행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0"/>
          <p:cNvSpPr txBox="1"/>
          <p:nvPr/>
        </p:nvSpPr>
        <p:spPr>
          <a:xfrm>
            <a:off x="338100" y="346025"/>
            <a:ext cx="2651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04. 프로젝트 수행 결과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0"/>
          <p:cNvSpPr txBox="1"/>
          <p:nvPr/>
        </p:nvSpPr>
        <p:spPr>
          <a:xfrm>
            <a:off x="3055918" y="40209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0"/>
          <p:cNvSpPr txBox="1"/>
          <p:nvPr/>
        </p:nvSpPr>
        <p:spPr>
          <a:xfrm>
            <a:off x="3193000" y="402105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model training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0"/>
          <p:cNvSpPr txBox="1"/>
          <p:nvPr/>
        </p:nvSpPr>
        <p:spPr>
          <a:xfrm>
            <a:off x="391375" y="3397650"/>
            <a:ext cx="285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solidFill>
                  <a:schemeClr val="dk1"/>
                </a:solidFill>
              </a:rPr>
              <a:t> 모델 학습 결과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381" name="Google Shape;38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100" y="855175"/>
            <a:ext cx="8468399" cy="2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0"/>
          <p:cNvSpPr/>
          <p:nvPr/>
        </p:nvSpPr>
        <p:spPr>
          <a:xfrm>
            <a:off x="2539904" y="3985950"/>
            <a:ext cx="276000" cy="4467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3004" y="4099750"/>
            <a:ext cx="52482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0"/>
          <p:cNvSpPr txBox="1"/>
          <p:nvPr/>
        </p:nvSpPr>
        <p:spPr>
          <a:xfrm>
            <a:off x="3810325" y="4350150"/>
            <a:ext cx="4139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chemeClr val="dk1"/>
                </a:solidFill>
              </a:rPr>
              <a:t>모델 로드하는 과정에서 위와 같은 오류 발생 .. 원인 찾지 못함</a:t>
            </a:r>
            <a:endParaRPr sz="1000" b="1">
              <a:solidFill>
                <a:schemeClr val="dk1"/>
              </a:solidFill>
            </a:endParaRPr>
          </a:p>
        </p:txBody>
      </p:sp>
      <p:pic>
        <p:nvPicPr>
          <p:cNvPr id="385" name="Google Shape;385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1375" y="3720125"/>
            <a:ext cx="1565350" cy="97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1"/>
          <p:cNvSpPr/>
          <p:nvPr/>
        </p:nvSpPr>
        <p:spPr>
          <a:xfrm>
            <a:off x="405725" y="1143275"/>
            <a:ext cx="8317500" cy="1682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1" name="Google Shape;39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1"/>
          <p:cNvSpPr txBox="1"/>
          <p:nvPr/>
        </p:nvSpPr>
        <p:spPr>
          <a:xfrm>
            <a:off x="338100" y="346025"/>
            <a:ext cx="2651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04. 프로젝트 수행 결과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1"/>
          <p:cNvSpPr/>
          <p:nvPr/>
        </p:nvSpPr>
        <p:spPr>
          <a:xfrm>
            <a:off x="6756329" y="1233350"/>
            <a:ext cx="1666800" cy="331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jupyter notebook(모델)</a:t>
            </a:r>
            <a:endParaRPr sz="1100"/>
          </a:p>
        </p:txBody>
      </p:sp>
      <p:sp>
        <p:nvSpPr>
          <p:cNvPr id="394" name="Google Shape;394;p41"/>
          <p:cNvSpPr/>
          <p:nvPr/>
        </p:nvSpPr>
        <p:spPr>
          <a:xfrm>
            <a:off x="6756329" y="2230855"/>
            <a:ext cx="1666800" cy="331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windows 10 pro</a:t>
            </a:r>
            <a:endParaRPr sz="1100"/>
          </a:p>
        </p:txBody>
      </p:sp>
      <p:sp>
        <p:nvSpPr>
          <p:cNvPr id="395" name="Google Shape;395;p41"/>
          <p:cNvSpPr/>
          <p:nvPr/>
        </p:nvSpPr>
        <p:spPr>
          <a:xfrm>
            <a:off x="6756329" y="1899507"/>
            <a:ext cx="1666800" cy="331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AWS ec2</a:t>
            </a:r>
            <a:endParaRPr sz="1100"/>
          </a:p>
        </p:txBody>
      </p:sp>
      <p:sp>
        <p:nvSpPr>
          <p:cNvPr id="396" name="Google Shape;396;p41"/>
          <p:cNvSpPr/>
          <p:nvPr/>
        </p:nvSpPr>
        <p:spPr>
          <a:xfrm>
            <a:off x="6756329" y="1568135"/>
            <a:ext cx="1666800" cy="331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docker</a:t>
            </a:r>
            <a:endParaRPr sz="1100"/>
          </a:p>
        </p:txBody>
      </p:sp>
      <p:sp>
        <p:nvSpPr>
          <p:cNvPr id="397" name="Google Shape;397;p41"/>
          <p:cNvSpPr/>
          <p:nvPr/>
        </p:nvSpPr>
        <p:spPr>
          <a:xfrm>
            <a:off x="719100" y="1233350"/>
            <a:ext cx="1666800" cy="331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kinesis video stream</a:t>
            </a:r>
            <a:endParaRPr sz="1100"/>
          </a:p>
        </p:txBody>
      </p:sp>
      <p:sp>
        <p:nvSpPr>
          <p:cNvPr id="398" name="Google Shape;398;p41"/>
          <p:cNvSpPr/>
          <p:nvPr/>
        </p:nvSpPr>
        <p:spPr>
          <a:xfrm>
            <a:off x="719100" y="2230855"/>
            <a:ext cx="1666800" cy="331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windows 10 pro</a:t>
            </a:r>
            <a:endParaRPr sz="1100"/>
          </a:p>
        </p:txBody>
      </p:sp>
      <p:sp>
        <p:nvSpPr>
          <p:cNvPr id="399" name="Google Shape;399;p41"/>
          <p:cNvSpPr/>
          <p:nvPr/>
        </p:nvSpPr>
        <p:spPr>
          <a:xfrm>
            <a:off x="719100" y="1899507"/>
            <a:ext cx="1666800" cy="331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VMware workstation 16</a:t>
            </a:r>
            <a:endParaRPr sz="1100"/>
          </a:p>
        </p:txBody>
      </p:sp>
      <p:sp>
        <p:nvSpPr>
          <p:cNvPr id="400" name="Google Shape;400;p41"/>
          <p:cNvSpPr/>
          <p:nvPr/>
        </p:nvSpPr>
        <p:spPr>
          <a:xfrm>
            <a:off x="719100" y="1568135"/>
            <a:ext cx="1666800" cy="331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Ubuntu 18.04.6 LTS</a:t>
            </a:r>
            <a:endParaRPr sz="1100"/>
          </a:p>
        </p:txBody>
      </p:sp>
      <p:sp>
        <p:nvSpPr>
          <p:cNvPr id="401" name="Google Shape;401;p41"/>
          <p:cNvSpPr/>
          <p:nvPr/>
        </p:nvSpPr>
        <p:spPr>
          <a:xfrm>
            <a:off x="4133138" y="1614250"/>
            <a:ext cx="960000" cy="8904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실시간 영상</a:t>
            </a:r>
            <a:endParaRPr sz="1000"/>
          </a:p>
        </p:txBody>
      </p:sp>
      <p:sp>
        <p:nvSpPr>
          <p:cNvPr id="402" name="Google Shape;402;p41"/>
          <p:cNvSpPr txBox="1"/>
          <p:nvPr/>
        </p:nvSpPr>
        <p:spPr>
          <a:xfrm>
            <a:off x="3055918" y="40209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1"/>
          <p:cNvSpPr txBox="1"/>
          <p:nvPr/>
        </p:nvSpPr>
        <p:spPr>
          <a:xfrm>
            <a:off x="3211975" y="384430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Demo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1"/>
          <p:cNvSpPr txBox="1"/>
          <p:nvPr/>
        </p:nvSpPr>
        <p:spPr>
          <a:xfrm>
            <a:off x="548825" y="791063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chemeClr val="dk1"/>
                </a:solidFill>
              </a:rPr>
              <a:t>Process</a:t>
            </a:r>
            <a:endParaRPr sz="1600" b="1"/>
          </a:p>
        </p:txBody>
      </p:sp>
      <p:sp>
        <p:nvSpPr>
          <p:cNvPr id="405" name="Google Shape;405;p41"/>
          <p:cNvSpPr txBox="1"/>
          <p:nvPr/>
        </p:nvSpPr>
        <p:spPr>
          <a:xfrm>
            <a:off x="1186075" y="2508500"/>
            <a:ext cx="744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producer</a:t>
            </a:r>
            <a:endParaRPr/>
          </a:p>
        </p:txBody>
      </p:sp>
      <p:pic>
        <p:nvPicPr>
          <p:cNvPr id="406" name="Google Shape;406;p41"/>
          <p:cNvPicPr preferRelativeResize="0"/>
          <p:nvPr/>
        </p:nvPicPr>
        <p:blipFill rotWithShape="1">
          <a:blip r:embed="rId4">
            <a:alphaModFix/>
          </a:blip>
          <a:srcRect t="6735" b="15310"/>
          <a:stretch/>
        </p:blipFill>
        <p:spPr>
          <a:xfrm>
            <a:off x="424949" y="3227226"/>
            <a:ext cx="3960000" cy="180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1"/>
          <p:cNvPicPr preferRelativeResize="0"/>
          <p:nvPr/>
        </p:nvPicPr>
        <p:blipFill rotWithShape="1">
          <a:blip r:embed="rId5">
            <a:alphaModFix/>
          </a:blip>
          <a:srcRect t="2745" b="12003"/>
          <a:stretch/>
        </p:blipFill>
        <p:spPr>
          <a:xfrm>
            <a:off x="4689960" y="3227225"/>
            <a:ext cx="3960000" cy="1800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1"/>
          <p:cNvSpPr txBox="1"/>
          <p:nvPr/>
        </p:nvSpPr>
        <p:spPr>
          <a:xfrm>
            <a:off x="7333125" y="2513850"/>
            <a:ext cx="744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client</a:t>
            </a:r>
            <a:endParaRPr/>
          </a:p>
        </p:txBody>
      </p:sp>
      <p:sp>
        <p:nvSpPr>
          <p:cNvPr id="409" name="Google Shape;409;p41"/>
          <p:cNvSpPr txBox="1"/>
          <p:nvPr/>
        </p:nvSpPr>
        <p:spPr>
          <a:xfrm>
            <a:off x="424950" y="2917075"/>
            <a:ext cx="396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chemeClr val="dk1"/>
                </a:solidFill>
              </a:rPr>
              <a:t>(producer 결과창)</a:t>
            </a:r>
            <a:endParaRPr sz="1500" b="1"/>
          </a:p>
        </p:txBody>
      </p:sp>
      <p:sp>
        <p:nvSpPr>
          <p:cNvPr id="410" name="Google Shape;410;p41"/>
          <p:cNvSpPr txBox="1"/>
          <p:nvPr/>
        </p:nvSpPr>
        <p:spPr>
          <a:xfrm>
            <a:off x="4689950" y="2917075"/>
            <a:ext cx="396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chemeClr val="dk1"/>
                </a:solidFill>
              </a:rPr>
              <a:t>(client 결과창)</a:t>
            </a:r>
            <a:endParaRPr sz="1500" b="1"/>
          </a:p>
        </p:txBody>
      </p:sp>
      <p:sp>
        <p:nvSpPr>
          <p:cNvPr id="411" name="Google Shape;411;p41"/>
          <p:cNvSpPr txBox="1"/>
          <p:nvPr/>
        </p:nvSpPr>
        <p:spPr>
          <a:xfrm>
            <a:off x="2584075" y="1534925"/>
            <a:ext cx="1427100" cy="103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Access Key</a:t>
            </a: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Secret Access Key</a:t>
            </a: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STREAM_NAME </a:t>
            </a: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…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12" name="Google Shape;412;p41"/>
          <p:cNvSpPr txBox="1"/>
          <p:nvPr/>
        </p:nvSpPr>
        <p:spPr>
          <a:xfrm>
            <a:off x="5169350" y="1534925"/>
            <a:ext cx="1427100" cy="1031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HLSStreaming</a:t>
            </a: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SessionURL</a:t>
            </a: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413" name="Google Shape;413;p41"/>
          <p:cNvSpPr/>
          <p:nvPr/>
        </p:nvSpPr>
        <p:spPr>
          <a:xfrm>
            <a:off x="2709175" y="1415275"/>
            <a:ext cx="1176900" cy="26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gstreamer</a:t>
            </a:r>
            <a:endParaRPr/>
          </a:p>
        </p:txBody>
      </p:sp>
      <p:sp>
        <p:nvSpPr>
          <p:cNvPr id="414" name="Google Shape;414;p41"/>
          <p:cNvSpPr/>
          <p:nvPr/>
        </p:nvSpPr>
        <p:spPr>
          <a:xfrm>
            <a:off x="5294450" y="1379375"/>
            <a:ext cx="1176900" cy="26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boto3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2"/>
          <p:cNvSpPr txBox="1"/>
          <p:nvPr/>
        </p:nvSpPr>
        <p:spPr>
          <a:xfrm>
            <a:off x="338100" y="346025"/>
            <a:ext cx="2651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04. 프로젝트 수행 결과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2"/>
          <p:cNvSpPr txBox="1"/>
          <p:nvPr/>
        </p:nvSpPr>
        <p:spPr>
          <a:xfrm>
            <a:off x="3055918" y="40209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2"/>
          <p:cNvSpPr txBox="1"/>
          <p:nvPr/>
        </p:nvSpPr>
        <p:spPr>
          <a:xfrm>
            <a:off x="3211975" y="384430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model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100" y="836175"/>
            <a:ext cx="3104801" cy="20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4675" y="845675"/>
            <a:ext cx="3162074" cy="199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2"/>
          <p:cNvSpPr/>
          <p:nvPr/>
        </p:nvSpPr>
        <p:spPr>
          <a:xfrm>
            <a:off x="3753463" y="1752075"/>
            <a:ext cx="208800" cy="1848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42"/>
          <p:cNvSpPr/>
          <p:nvPr/>
        </p:nvSpPr>
        <p:spPr>
          <a:xfrm>
            <a:off x="4230738" y="1752075"/>
            <a:ext cx="208800" cy="1848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42"/>
          <p:cNvSpPr/>
          <p:nvPr/>
        </p:nvSpPr>
        <p:spPr>
          <a:xfrm>
            <a:off x="4708013" y="1752075"/>
            <a:ext cx="208800" cy="1848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42"/>
          <p:cNvSpPr/>
          <p:nvPr/>
        </p:nvSpPr>
        <p:spPr>
          <a:xfrm>
            <a:off x="5185288" y="1752075"/>
            <a:ext cx="208800" cy="1848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9" name="Google Shape;429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73700" y="4184125"/>
            <a:ext cx="2000250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2"/>
          <p:cNvSpPr/>
          <p:nvPr/>
        </p:nvSpPr>
        <p:spPr>
          <a:xfrm rot="5400000">
            <a:off x="4331538" y="2081961"/>
            <a:ext cx="484500" cy="6264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2"/>
          <p:cNvSpPr/>
          <p:nvPr/>
        </p:nvSpPr>
        <p:spPr>
          <a:xfrm rot="5400000">
            <a:off x="4329175" y="3446724"/>
            <a:ext cx="484500" cy="6264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42"/>
          <p:cNvSpPr/>
          <p:nvPr/>
        </p:nvSpPr>
        <p:spPr>
          <a:xfrm>
            <a:off x="4135638" y="2777250"/>
            <a:ext cx="876300" cy="544200"/>
          </a:xfrm>
          <a:prstGeom prst="cube">
            <a:avLst>
              <a:gd name="adj" fmla="val 25000"/>
            </a:avLst>
          </a:prstGeom>
          <a:solidFill>
            <a:srgbClr val="073763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42"/>
          <p:cNvSpPr txBox="1"/>
          <p:nvPr/>
        </p:nvSpPr>
        <p:spPr>
          <a:xfrm>
            <a:off x="4178150" y="3011875"/>
            <a:ext cx="62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</a:rPr>
              <a:t> 3D Conv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2"/>
          <p:cNvSpPr txBox="1"/>
          <p:nvPr/>
        </p:nvSpPr>
        <p:spPr>
          <a:xfrm>
            <a:off x="3962275" y="1275725"/>
            <a:ext cx="1223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latin typeface="Calibri"/>
                <a:ea typeface="Calibri"/>
                <a:cs typeface="Calibri"/>
                <a:sym typeface="Calibri"/>
              </a:rPr>
              <a:t>16 Images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2"/>
          <p:cNvSpPr txBox="1"/>
          <p:nvPr/>
        </p:nvSpPr>
        <p:spPr>
          <a:xfrm>
            <a:off x="5602113" y="4285488"/>
            <a:ext cx="336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chemeClr val="dk1"/>
                </a:solidFill>
              </a:rPr>
              <a:t> 해당 모델이 예측한 값을 사용하여, </a:t>
            </a:r>
            <a:endParaRPr sz="10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chemeClr val="dk1"/>
                </a:solidFill>
              </a:rPr>
              <a:t>이상행동이 특정 횟수 이상 발생하면 문자 발송</a:t>
            </a:r>
            <a:endParaRPr sz="1000" b="1">
              <a:solidFill>
                <a:schemeClr val="dk1"/>
              </a:solidFill>
            </a:endParaRPr>
          </a:p>
        </p:txBody>
      </p:sp>
      <p:pic>
        <p:nvPicPr>
          <p:cNvPr id="436" name="Google Shape;436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8088" y="3517663"/>
            <a:ext cx="2342400" cy="1183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2"/>
          <p:cNvSpPr txBox="1"/>
          <p:nvPr/>
        </p:nvSpPr>
        <p:spPr>
          <a:xfrm>
            <a:off x="338096" y="4778100"/>
            <a:ext cx="2342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chemeClr val="dk1"/>
                </a:solidFill>
              </a:rPr>
              <a:t>confusion matrix</a:t>
            </a:r>
            <a:endParaRPr sz="10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43"/>
          <p:cNvPicPr preferRelativeResize="0"/>
          <p:nvPr/>
        </p:nvPicPr>
        <p:blipFill rotWithShape="1">
          <a:blip r:embed="rId3">
            <a:alphaModFix/>
          </a:blip>
          <a:srcRect l="882" t="2257"/>
          <a:stretch/>
        </p:blipFill>
        <p:spPr>
          <a:xfrm>
            <a:off x="411550" y="1322075"/>
            <a:ext cx="8352150" cy="21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3"/>
          <p:cNvSpPr txBox="1"/>
          <p:nvPr/>
        </p:nvSpPr>
        <p:spPr>
          <a:xfrm>
            <a:off x="338100" y="346025"/>
            <a:ext cx="2651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04. 데이터 소개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3"/>
          <p:cNvSpPr txBox="1"/>
          <p:nvPr/>
        </p:nvSpPr>
        <p:spPr>
          <a:xfrm>
            <a:off x="3055918" y="40209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3"/>
          <p:cNvSpPr txBox="1"/>
          <p:nvPr/>
        </p:nvSpPr>
        <p:spPr>
          <a:xfrm>
            <a:off x="3211975" y="384430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Temporal Annotation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3"/>
          <p:cNvSpPr/>
          <p:nvPr/>
        </p:nvSpPr>
        <p:spPr>
          <a:xfrm>
            <a:off x="348450" y="1918600"/>
            <a:ext cx="3115200" cy="1563300"/>
          </a:xfrm>
          <a:prstGeom prst="rect">
            <a:avLst/>
          </a:prstGeom>
          <a:noFill/>
          <a:ln w="76200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43"/>
          <p:cNvSpPr/>
          <p:nvPr/>
        </p:nvSpPr>
        <p:spPr>
          <a:xfrm>
            <a:off x="3507300" y="1915600"/>
            <a:ext cx="1042500" cy="1563300"/>
          </a:xfrm>
          <a:prstGeom prst="rect">
            <a:avLst/>
          </a:prstGeom>
          <a:noFill/>
          <a:ln w="76200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43"/>
          <p:cNvSpPr/>
          <p:nvPr/>
        </p:nvSpPr>
        <p:spPr>
          <a:xfrm>
            <a:off x="5527850" y="1907800"/>
            <a:ext cx="828900" cy="1571100"/>
          </a:xfrm>
          <a:prstGeom prst="rect">
            <a:avLst/>
          </a:prstGeom>
          <a:noFill/>
          <a:ln w="762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43"/>
          <p:cNvSpPr/>
          <p:nvPr/>
        </p:nvSpPr>
        <p:spPr>
          <a:xfrm>
            <a:off x="4593450" y="1907800"/>
            <a:ext cx="903000" cy="1563300"/>
          </a:xfrm>
          <a:prstGeom prst="rect">
            <a:avLst/>
          </a:prstGeom>
          <a:noFill/>
          <a:ln w="762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43"/>
          <p:cNvSpPr/>
          <p:nvPr/>
        </p:nvSpPr>
        <p:spPr>
          <a:xfrm>
            <a:off x="6424400" y="1918575"/>
            <a:ext cx="455100" cy="1563300"/>
          </a:xfrm>
          <a:prstGeom prst="rect">
            <a:avLst/>
          </a:prstGeom>
          <a:noFill/>
          <a:ln w="76200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43"/>
          <p:cNvSpPr txBox="1"/>
          <p:nvPr/>
        </p:nvSpPr>
        <p:spPr>
          <a:xfrm>
            <a:off x="1310850" y="3762125"/>
            <a:ext cx="119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solidFill>
                  <a:schemeClr val="dk1"/>
                </a:solidFill>
              </a:rPr>
              <a:t>영상 이름</a:t>
            </a:r>
            <a:endParaRPr b="1"/>
          </a:p>
        </p:txBody>
      </p:sp>
      <p:sp>
        <p:nvSpPr>
          <p:cNvPr id="453" name="Google Shape;453;p43"/>
          <p:cNvSpPr txBox="1"/>
          <p:nvPr/>
        </p:nvSpPr>
        <p:spPr>
          <a:xfrm>
            <a:off x="3559825" y="3762125"/>
            <a:ext cx="90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solidFill>
                  <a:schemeClr val="dk1"/>
                </a:solidFill>
              </a:rPr>
              <a:t>Label</a:t>
            </a:r>
            <a:endParaRPr b="1"/>
          </a:p>
        </p:txBody>
      </p:sp>
      <p:sp>
        <p:nvSpPr>
          <p:cNvPr id="454" name="Google Shape;454;p43"/>
          <p:cNvSpPr txBox="1"/>
          <p:nvPr/>
        </p:nvSpPr>
        <p:spPr>
          <a:xfrm>
            <a:off x="4593450" y="3760234"/>
            <a:ext cx="903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solidFill>
                  <a:schemeClr val="dk1"/>
                </a:solidFill>
              </a:rPr>
              <a:t>이상행동시작</a:t>
            </a:r>
            <a:br>
              <a:rPr lang="ko" b="1">
                <a:solidFill>
                  <a:schemeClr val="dk1"/>
                </a:solidFill>
              </a:rPr>
            </a:br>
            <a:r>
              <a:rPr lang="ko" b="1">
                <a:solidFill>
                  <a:schemeClr val="dk1"/>
                </a:solidFill>
              </a:rPr>
              <a:t>Frame</a:t>
            </a:r>
            <a:endParaRPr b="1"/>
          </a:p>
        </p:txBody>
      </p:sp>
      <p:sp>
        <p:nvSpPr>
          <p:cNvPr id="455" name="Google Shape;455;p43"/>
          <p:cNvSpPr txBox="1"/>
          <p:nvPr/>
        </p:nvSpPr>
        <p:spPr>
          <a:xfrm>
            <a:off x="5521400" y="3760225"/>
            <a:ext cx="903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solidFill>
                  <a:schemeClr val="dk1"/>
                </a:solidFill>
              </a:rPr>
              <a:t>이상행동 끝</a:t>
            </a:r>
            <a:br>
              <a:rPr lang="ko" b="1">
                <a:solidFill>
                  <a:schemeClr val="dk1"/>
                </a:solidFill>
              </a:rPr>
            </a:br>
            <a:r>
              <a:rPr lang="ko" b="1">
                <a:solidFill>
                  <a:schemeClr val="dk1"/>
                </a:solidFill>
              </a:rPr>
              <a:t>Frame</a:t>
            </a:r>
            <a:endParaRPr b="1"/>
          </a:p>
        </p:txBody>
      </p:sp>
      <p:sp>
        <p:nvSpPr>
          <p:cNvPr id="456" name="Google Shape;456;p43"/>
          <p:cNvSpPr txBox="1"/>
          <p:nvPr/>
        </p:nvSpPr>
        <p:spPr>
          <a:xfrm>
            <a:off x="6449350" y="3787600"/>
            <a:ext cx="2651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solidFill>
                  <a:schemeClr val="dk1"/>
                </a:solidFill>
              </a:rPr>
              <a:t>추가로 발생하는 이상행동의 시작/끝 프레임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* ‘-1’은 이상행동 없음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57" name="Google Shape;457;p43"/>
          <p:cNvSpPr txBox="1"/>
          <p:nvPr/>
        </p:nvSpPr>
        <p:spPr>
          <a:xfrm>
            <a:off x="316050" y="8058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Annotation 데이터 구성</a:t>
            </a:r>
            <a:endParaRPr b="1"/>
          </a:p>
        </p:txBody>
      </p:sp>
      <p:sp>
        <p:nvSpPr>
          <p:cNvPr id="458" name="Google Shape;458;p43"/>
          <p:cNvSpPr/>
          <p:nvPr/>
        </p:nvSpPr>
        <p:spPr>
          <a:xfrm rot="5400000">
            <a:off x="1804352" y="3504252"/>
            <a:ext cx="203400" cy="3633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3"/>
          <p:cNvSpPr/>
          <p:nvPr/>
        </p:nvSpPr>
        <p:spPr>
          <a:xfrm rot="5400000">
            <a:off x="3907692" y="3504252"/>
            <a:ext cx="203400" cy="3633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3"/>
          <p:cNvSpPr/>
          <p:nvPr/>
        </p:nvSpPr>
        <p:spPr>
          <a:xfrm rot="5400000">
            <a:off x="4943242" y="3504252"/>
            <a:ext cx="203400" cy="3633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3"/>
          <p:cNvSpPr/>
          <p:nvPr/>
        </p:nvSpPr>
        <p:spPr>
          <a:xfrm rot="5400000">
            <a:off x="5840592" y="3504252"/>
            <a:ext cx="203400" cy="3633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3"/>
          <p:cNvSpPr/>
          <p:nvPr/>
        </p:nvSpPr>
        <p:spPr>
          <a:xfrm>
            <a:off x="6957800" y="1918575"/>
            <a:ext cx="455100" cy="1563300"/>
          </a:xfrm>
          <a:prstGeom prst="rect">
            <a:avLst/>
          </a:prstGeom>
          <a:noFill/>
          <a:ln w="76200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3"/>
          <p:cNvSpPr/>
          <p:nvPr/>
        </p:nvSpPr>
        <p:spPr>
          <a:xfrm rot="5400000">
            <a:off x="6831192" y="3504252"/>
            <a:ext cx="203400" cy="3633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4"/>
          <p:cNvSpPr txBox="1"/>
          <p:nvPr/>
        </p:nvSpPr>
        <p:spPr>
          <a:xfrm>
            <a:off x="338100" y="346025"/>
            <a:ext cx="2651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04. 프로젝트 수행 결과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4"/>
          <p:cNvSpPr txBox="1"/>
          <p:nvPr/>
        </p:nvSpPr>
        <p:spPr>
          <a:xfrm>
            <a:off x="3055918" y="40209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4"/>
          <p:cNvSpPr txBox="1"/>
          <p:nvPr/>
        </p:nvSpPr>
        <p:spPr>
          <a:xfrm>
            <a:off x="3211975" y="384430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Front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2" name="Google Shape;472;p44"/>
          <p:cNvGraphicFramePr/>
          <p:nvPr/>
        </p:nvGraphicFramePr>
        <p:xfrm>
          <a:off x="430325" y="1576710"/>
          <a:ext cx="2520000" cy="2088050"/>
        </p:xfrm>
        <a:graphic>
          <a:graphicData uri="http://schemas.openxmlformats.org/drawingml/2006/table">
            <a:tbl>
              <a:tblPr>
                <a:noFill/>
                <a:tableStyleId>{E33218E7-A592-4445-89A2-7E439728F304}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2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각 이상행동 유형별 구간 프레임 수 평균(소수점 둘째자리까지)</a:t>
                      </a:r>
                      <a:endParaRPr sz="110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Arson 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841.22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Assault 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2615.33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Stealing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966.0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3가지 행동 평균 프레임 수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1474.18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73" name="Google Shape;473;p44"/>
          <p:cNvGraphicFramePr/>
          <p:nvPr/>
        </p:nvGraphicFramePr>
        <p:xfrm>
          <a:off x="3373938" y="1576710"/>
          <a:ext cx="2520000" cy="2087760"/>
        </p:xfrm>
        <a:graphic>
          <a:graphicData uri="http://schemas.openxmlformats.org/drawingml/2006/table">
            <a:tbl>
              <a:tblPr>
                <a:noFill/>
                <a:tableStyleId>{E33218E7-A592-4445-89A2-7E439728F304}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이상행동 유형별 구간 프레임 재생시간 기준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Arson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28 초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Assault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87 초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Stealing</a:t>
                      </a:r>
                      <a:endParaRPr sz="1100"/>
                    </a:p>
                  </a:txBody>
                  <a:tcPr marL="91425" marR="91425" marT="91425" marB="91425">
                    <a:lnB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32 초</a:t>
                      </a:r>
                      <a:endParaRPr sz="1100"/>
                    </a:p>
                  </a:txBody>
                  <a:tcPr marL="91425" marR="91425" marT="91425" marB="91425">
                    <a:lnB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3가지 행동 평균시간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49초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74" name="Google Shape;474;p44"/>
          <p:cNvGraphicFramePr/>
          <p:nvPr/>
        </p:nvGraphicFramePr>
        <p:xfrm>
          <a:off x="6298700" y="1576710"/>
          <a:ext cx="2520000" cy="2087760"/>
        </p:xfrm>
        <a:graphic>
          <a:graphicData uri="http://schemas.openxmlformats.org/drawingml/2006/table">
            <a:tbl>
              <a:tblPr>
                <a:noFill/>
                <a:tableStyleId>{E33218E7-A592-4445-89A2-7E439728F304}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이상행동 유형별 구간 clip 기준               (16 frame당 추론값 하나 검출)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Arson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52번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Assault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163번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Stealing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60번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3가지 행동 평균 clip 수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92번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5" name="Google Shape;475;p44"/>
          <p:cNvSpPr txBox="1"/>
          <p:nvPr/>
        </p:nvSpPr>
        <p:spPr>
          <a:xfrm>
            <a:off x="316050" y="882025"/>
            <a:ext cx="8341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9999" lvl="0" indent="-17889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ko">
                <a:solidFill>
                  <a:schemeClr val="dk1"/>
                </a:solidFill>
              </a:rPr>
              <a:t>제한적으로 문자를 보내기 위해 annotation 데이터를 기준으로 이상행동 발생 기준 정의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ko">
                <a:solidFill>
                  <a:schemeClr val="dk1"/>
                </a:solidFill>
              </a:rPr>
              <a:t>Temporal_Anomaly_annotaion_for_Testing_Videos.txt 파일 참고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6" name="Google Shape;476;p44"/>
          <p:cNvSpPr txBox="1"/>
          <p:nvPr/>
        </p:nvSpPr>
        <p:spPr>
          <a:xfrm>
            <a:off x="430325" y="3878825"/>
            <a:ext cx="2520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시급성 우선 : (Arson) 52 clip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정확도 우선: (Assault) 163 clip</a:t>
            </a:r>
            <a:endParaRPr sz="13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</a:endParaRPr>
          </a:p>
        </p:txBody>
      </p:sp>
      <p:sp>
        <p:nvSpPr>
          <p:cNvPr id="477" name="Google Shape;477;p44"/>
          <p:cNvSpPr txBox="1"/>
          <p:nvPr/>
        </p:nvSpPr>
        <p:spPr>
          <a:xfrm>
            <a:off x="3343500" y="3955025"/>
            <a:ext cx="5493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000" b="1">
                <a:solidFill>
                  <a:schemeClr val="dk1"/>
                </a:solidFill>
              </a:rPr>
              <a:t>→ </a:t>
            </a:r>
            <a:r>
              <a:rPr lang="ko" sz="1700" b="1">
                <a:solidFill>
                  <a:schemeClr val="dk1"/>
                </a:solidFill>
              </a:rPr>
              <a:t>(가장 작은 clip 수) 52 clip 채택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4"/>
          <p:cNvSpPr/>
          <p:nvPr/>
        </p:nvSpPr>
        <p:spPr>
          <a:xfrm>
            <a:off x="3373950" y="2064300"/>
            <a:ext cx="5432400" cy="381000"/>
          </a:xfrm>
          <a:prstGeom prst="rect">
            <a:avLst/>
          </a:prstGeom>
          <a:noFill/>
          <a:ln w="38100" cap="flat" cmpd="sng">
            <a:solidFill>
              <a:srgbClr val="888888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45"/>
          <p:cNvSpPr txBox="1"/>
          <p:nvPr/>
        </p:nvSpPr>
        <p:spPr>
          <a:xfrm>
            <a:off x="338100" y="346025"/>
            <a:ext cx="2651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04. 프로젝트 수행 결과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5"/>
          <p:cNvSpPr txBox="1"/>
          <p:nvPr/>
        </p:nvSpPr>
        <p:spPr>
          <a:xfrm>
            <a:off x="3055918" y="40209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5"/>
          <p:cNvSpPr txBox="1"/>
          <p:nvPr/>
        </p:nvSpPr>
        <p:spPr>
          <a:xfrm>
            <a:off x="3211975" y="384430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Back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7" name="Google Shape;487;p45"/>
          <p:cNvPicPr preferRelativeResize="0"/>
          <p:nvPr/>
        </p:nvPicPr>
        <p:blipFill rotWithShape="1">
          <a:blip r:embed="rId4">
            <a:alphaModFix/>
          </a:blip>
          <a:srcRect l="4555" r="15947" b="24385"/>
          <a:stretch/>
        </p:blipFill>
        <p:spPr>
          <a:xfrm>
            <a:off x="3722925" y="2822950"/>
            <a:ext cx="4680000" cy="232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5">
            <a:alphaModFix/>
          </a:blip>
          <a:srcRect l="9063" r="5750"/>
          <a:stretch/>
        </p:blipFill>
        <p:spPr>
          <a:xfrm>
            <a:off x="3722925" y="944475"/>
            <a:ext cx="4680001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457175" y="1037300"/>
            <a:ext cx="3108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b="1" i="1">
                <a:latin typeface="Calibri"/>
                <a:ea typeface="Calibri"/>
                <a:cs typeface="Calibri"/>
                <a:sym typeface="Calibri"/>
              </a:rPr>
              <a:t>28</a:t>
            </a:r>
            <a:r>
              <a:rPr lang="ko" sz="2000" b="1" i="1">
                <a:latin typeface="Calibri"/>
                <a:ea typeface="Calibri"/>
                <a:cs typeface="Calibri"/>
                <a:sym typeface="Calibri"/>
              </a:rPr>
              <a:t>초간 (52개 clips)</a:t>
            </a:r>
            <a:endParaRPr sz="1600" i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i="1">
                <a:latin typeface="Calibri"/>
                <a:ea typeface="Calibri"/>
                <a:cs typeface="Calibri"/>
                <a:sym typeface="Calibri"/>
              </a:rPr>
              <a:t>                   </a:t>
            </a:r>
            <a:r>
              <a:rPr lang="ko" sz="2000" b="1" i="1">
                <a:latin typeface="Calibri"/>
                <a:ea typeface="Calibri"/>
                <a:cs typeface="Calibri"/>
                <a:sym typeface="Calibri"/>
              </a:rPr>
              <a:t>이상행동 발생 시, </a:t>
            </a:r>
            <a:endParaRPr sz="2000" b="1" i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0" name="Google Shape;490;p45"/>
          <p:cNvCxnSpPr/>
          <p:nvPr/>
        </p:nvCxnSpPr>
        <p:spPr>
          <a:xfrm>
            <a:off x="545700" y="1023775"/>
            <a:ext cx="283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1" name="Google Shape;491;p45"/>
          <p:cNvCxnSpPr/>
          <p:nvPr/>
        </p:nvCxnSpPr>
        <p:spPr>
          <a:xfrm>
            <a:off x="545700" y="1068020"/>
            <a:ext cx="283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2" name="Google Shape;492;p45"/>
          <p:cNvCxnSpPr/>
          <p:nvPr/>
        </p:nvCxnSpPr>
        <p:spPr>
          <a:xfrm>
            <a:off x="556761" y="1949236"/>
            <a:ext cx="283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3" name="Google Shape;493;p45"/>
          <p:cNvCxnSpPr/>
          <p:nvPr/>
        </p:nvCxnSpPr>
        <p:spPr>
          <a:xfrm>
            <a:off x="556761" y="1993481"/>
            <a:ext cx="283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94" name="Google Shape;494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5163" y="2346075"/>
            <a:ext cx="1792750" cy="18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5"/>
          <p:cNvSpPr txBox="1"/>
          <p:nvPr/>
        </p:nvSpPr>
        <p:spPr>
          <a:xfrm>
            <a:off x="854173" y="3905875"/>
            <a:ext cx="2411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 b="1">
                <a:latin typeface="Calibri"/>
                <a:ea typeface="Calibri"/>
                <a:cs typeface="Calibri"/>
                <a:sym typeface="Calibri"/>
              </a:rPr>
              <a:t>AWS SNS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 b="1">
                <a:latin typeface="Calibri"/>
                <a:ea typeface="Calibri"/>
                <a:cs typeface="Calibri"/>
                <a:sym typeface="Calibri"/>
              </a:rPr>
              <a:t>(SMS, EMAIL)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6"/>
          <p:cNvSpPr txBox="1"/>
          <p:nvPr/>
        </p:nvSpPr>
        <p:spPr>
          <a:xfrm>
            <a:off x="338100" y="346025"/>
            <a:ext cx="2651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04. 프로젝트 수행 결과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6"/>
          <p:cNvSpPr txBox="1"/>
          <p:nvPr/>
        </p:nvSpPr>
        <p:spPr>
          <a:xfrm>
            <a:off x="3055918" y="40209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6"/>
          <p:cNvSpPr txBox="1"/>
          <p:nvPr/>
        </p:nvSpPr>
        <p:spPr>
          <a:xfrm>
            <a:off x="3211975" y="384430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Back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4" name="Google Shape;50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5475" y="2347938"/>
            <a:ext cx="4680000" cy="180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9401" y="2647950"/>
            <a:ext cx="1378799" cy="1378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6" name="Google Shape;506;p46"/>
          <p:cNvCxnSpPr/>
          <p:nvPr/>
        </p:nvCxnSpPr>
        <p:spPr>
          <a:xfrm>
            <a:off x="545700" y="1023775"/>
            <a:ext cx="283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7" name="Google Shape;507;p46"/>
          <p:cNvCxnSpPr/>
          <p:nvPr/>
        </p:nvCxnSpPr>
        <p:spPr>
          <a:xfrm>
            <a:off x="545700" y="1068020"/>
            <a:ext cx="283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8" name="Google Shape;508;p46"/>
          <p:cNvCxnSpPr/>
          <p:nvPr/>
        </p:nvCxnSpPr>
        <p:spPr>
          <a:xfrm>
            <a:off x="556761" y="1949236"/>
            <a:ext cx="283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9" name="Google Shape;509;p46"/>
          <p:cNvCxnSpPr/>
          <p:nvPr/>
        </p:nvCxnSpPr>
        <p:spPr>
          <a:xfrm>
            <a:off x="556761" y="1993481"/>
            <a:ext cx="283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0" name="Google Shape;510;p46"/>
          <p:cNvSpPr txBox="1"/>
          <p:nvPr/>
        </p:nvSpPr>
        <p:spPr>
          <a:xfrm>
            <a:off x="832048" y="4147950"/>
            <a:ext cx="24114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 b="1">
                <a:latin typeface="Calibri"/>
                <a:ea typeface="Calibri"/>
                <a:cs typeface="Calibri"/>
                <a:sym typeface="Calibri"/>
              </a:rPr>
              <a:t>DynamoDB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6"/>
          <p:cNvSpPr txBox="1"/>
          <p:nvPr/>
        </p:nvSpPr>
        <p:spPr>
          <a:xfrm>
            <a:off x="457175" y="1037300"/>
            <a:ext cx="3108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r>
              <a:rPr lang="ko" sz="20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초간 (52개 clips)</a:t>
            </a:r>
            <a:endParaRPr sz="1600" i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i="1">
                <a:latin typeface="Calibri"/>
                <a:ea typeface="Calibri"/>
                <a:cs typeface="Calibri"/>
                <a:sym typeface="Calibri"/>
              </a:rPr>
              <a:t>                   </a:t>
            </a:r>
            <a:r>
              <a:rPr lang="ko" sz="2000" b="1" i="1">
                <a:latin typeface="Calibri"/>
                <a:ea typeface="Calibri"/>
                <a:cs typeface="Calibri"/>
                <a:sym typeface="Calibri"/>
              </a:rPr>
              <a:t>이상행동 발생 시, </a:t>
            </a:r>
            <a:endParaRPr sz="2000" b="1"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46"/>
          <p:cNvSpPr txBox="1"/>
          <p:nvPr/>
        </p:nvSpPr>
        <p:spPr>
          <a:xfrm>
            <a:off x="4579925" y="4147950"/>
            <a:ext cx="2651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 b="1">
                <a:latin typeface="Calibri"/>
                <a:ea typeface="Calibri"/>
                <a:cs typeface="Calibri"/>
                <a:sym typeface="Calibri"/>
              </a:rPr>
              <a:t>DynamoDB Table 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7"/>
          <p:cNvSpPr txBox="1"/>
          <p:nvPr/>
        </p:nvSpPr>
        <p:spPr>
          <a:xfrm>
            <a:off x="338100" y="346025"/>
            <a:ext cx="2651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04. 프로젝트 수행 결과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7"/>
          <p:cNvSpPr txBox="1"/>
          <p:nvPr/>
        </p:nvSpPr>
        <p:spPr>
          <a:xfrm>
            <a:off x="3055918" y="40209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7"/>
          <p:cNvSpPr txBox="1"/>
          <p:nvPr/>
        </p:nvSpPr>
        <p:spPr>
          <a:xfrm>
            <a:off x="3183525" y="384430"/>
            <a:ext cx="24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 시연 동영상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1" name="Google Shape;521;p47"/>
          <p:cNvGrpSpPr/>
          <p:nvPr/>
        </p:nvGrpSpPr>
        <p:grpSpPr>
          <a:xfrm>
            <a:off x="5860775" y="1068200"/>
            <a:ext cx="3283225" cy="4075300"/>
            <a:chOff x="5860775" y="1068200"/>
            <a:chExt cx="3283225" cy="4075300"/>
          </a:xfrm>
        </p:grpSpPr>
        <p:pic>
          <p:nvPicPr>
            <p:cNvPr id="522" name="Google Shape;52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60775" y="1807750"/>
              <a:ext cx="3283225" cy="3335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" name="Google Shape;523;p4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17175" y="1068200"/>
              <a:ext cx="597325" cy="5973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24" name="Google Shape;524;p47" title="시연동영상.mov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9108" y="702775"/>
            <a:ext cx="5920967" cy="444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508" y="645629"/>
            <a:ext cx="8469841" cy="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8"/>
          <p:cNvSpPr txBox="1"/>
          <p:nvPr/>
        </p:nvSpPr>
        <p:spPr>
          <a:xfrm>
            <a:off x="338100" y="346025"/>
            <a:ext cx="2651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05. 느낀 점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8"/>
          <p:cNvSpPr txBox="1"/>
          <p:nvPr/>
        </p:nvSpPr>
        <p:spPr>
          <a:xfrm>
            <a:off x="3055918" y="402090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2" name="Google Shape;532;p48"/>
          <p:cNvGraphicFramePr/>
          <p:nvPr/>
        </p:nvGraphicFramePr>
        <p:xfrm>
          <a:off x="364350" y="694967"/>
          <a:ext cx="8469850" cy="4150295"/>
        </p:xfrm>
        <a:graphic>
          <a:graphicData uri="http://schemas.openxmlformats.org/drawingml/2006/table">
            <a:tbl>
              <a:tblPr>
                <a:noFill/>
                <a:tableStyleId>{E33218E7-A592-4445-89A2-7E439728F304}</a:tableStyleId>
              </a:tblPr>
              <a:tblGrid>
                <a:gridCol w="29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lt1"/>
                          </a:solidFill>
                        </a:rPr>
                        <a:t>구분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8787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lt1"/>
                          </a:solidFill>
                        </a:rPr>
                        <a:t>내용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87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프로젝트 수행 상 어려움 극복 사례</a:t>
                      </a:r>
                      <a:endParaRPr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- 윈도우 환경에서 kinesis video stream  환경구축에 어려움이 있었으나 vmware에서 환경을 구축해 극복 </a:t>
                      </a:r>
                      <a:endParaRPr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F4F4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프로젝트에서 잘한 부분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- 로컬환경에서 진행할 수 있었던 부분들을 AWS 환경에서 진행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프로젝트에서 아쉬운 부분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- 웹서비스를 구현하지 못함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- 학습한 모델을 로드하는 과정에서 생긴 오류를 해결하지 못함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프로젝트를 통한 진로 설계, 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취업 분야 탐색 등 도움된 사항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- 클라우드 환경에서 데이터를 처리하기 위한 파이프라인을 설계하고 구현해볼 수 있었음.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느낀 점 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- 새로운 모델에 대해 알 수 있었던 뜻깊은 시간이었고, 팀원들이 열심히 해 줘서 프로젝트 마무리까지 잘 할 수 있었던 것 같다. (재동) 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 - 공동의 목표를 향해 팀원이 협업하여 하나의 서비스를 개발해보니 매우 뿌듯하고 재밌었다. 사회에서 다시 모여 작업하고 싶다. (지원)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- 비용에 구애받지 않고 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원하는 만큼 </a:t>
                      </a:r>
                      <a:r>
                        <a:rPr lang="ko"/>
                        <a:t>AWS를 다뤄볼 수 있는 좋은 경험이었다. (나정)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1420</Words>
  <Application>Microsoft Office PowerPoint</Application>
  <PresentationFormat>화면 슬라이드 쇼(16:9)</PresentationFormat>
  <Paragraphs>344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Malgun Gothic</vt:lpstr>
      <vt:lpstr>Arial</vt:lpstr>
      <vt:lpstr>Calibri</vt:lpstr>
      <vt:lpstr>Times New Roman</vt:lpstr>
      <vt:lpstr>Simple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admin</cp:lastModifiedBy>
  <cp:revision>1</cp:revision>
  <dcterms:modified xsi:type="dcterms:W3CDTF">2026-03-06T15:08:35Z</dcterms:modified>
</cp:coreProperties>
</file>